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784080" y="4206240"/>
            <a:ext cx="3840480" cy="3840480"/>
          </a:xfrm>
          <a:prstGeom prst="ellipse">
            <a:avLst/>
          </a:prstGeom>
          <a:solidFill>
            <a:srgbClr val="028090">
              <a:alpha val="22000"/>
            </a:srgbClr>
          </a:solidFill>
          <a:ln/>
        </p:spPr>
      </p:sp>
      <p:sp>
        <p:nvSpPr>
          <p:cNvPr id="3" name="Shape 1"/>
          <p:cNvSpPr/>
          <p:nvPr/>
        </p:nvSpPr>
        <p:spPr>
          <a:xfrm>
            <a:off x="10972800" y="5303520"/>
            <a:ext cx="2377440" cy="2377440"/>
          </a:xfrm>
          <a:prstGeom prst="ellipse">
            <a:avLst/>
          </a:prstGeom>
          <a:solidFill>
            <a:srgbClr val="02C39A">
              <a:alpha val="30000"/>
            </a:srgbClr>
          </a:solidFill>
          <a:ln/>
        </p:spPr>
      </p:sp>
      <p:sp>
        <p:nvSpPr>
          <p:cNvPr id="4" name="Shape 2"/>
          <p:cNvSpPr/>
          <p:nvPr/>
        </p:nvSpPr>
        <p:spPr>
          <a:xfrm>
            <a:off x="822960" y="914400"/>
            <a:ext cx="822960" cy="822960"/>
          </a:xfrm>
          <a:prstGeom prst="ellipse">
            <a:avLst/>
          </a:prstGeom>
          <a:solidFill>
            <a:srgbClr val="028090"/>
          </a:solidFill>
          <a:ln/>
        </p:spPr>
      </p:sp>
      <p:pic>
        <p:nvPicPr>
          <p:cNvPr id="5" name="Image 0" descr="preencoded.png">    </p:cNvPr>
          <p:cNvPicPr>
            <a:picLocks noChangeAspect="1"/>
          </p:cNvPicPr>
          <p:nvPr/>
        </p:nvPicPr>
        <p:blipFill>
          <a:blip r:embed="rId1"/>
          <a:stretch>
            <a:fillRect/>
          </a:stretch>
        </p:blipFill>
        <p:spPr>
          <a:xfrm>
            <a:off x="1036930" y="1128370"/>
            <a:ext cx="395021" cy="395021"/>
          </a:xfrm>
          <a:prstGeom prst="rect">
            <a:avLst/>
          </a:prstGeom>
        </p:spPr>
      </p:pic>
      <p:sp>
        <p:nvSpPr>
          <p:cNvPr id="6" name="Text 3"/>
          <p:cNvSpPr/>
          <p:nvPr/>
        </p:nvSpPr>
        <p:spPr>
          <a:xfrm>
            <a:off x="822960" y="2377440"/>
            <a:ext cx="9601200" cy="457200"/>
          </a:xfrm>
          <a:prstGeom prst="rect">
            <a:avLst/>
          </a:prstGeom>
          <a:noFill/>
          <a:ln/>
        </p:spPr>
        <p:txBody>
          <a:bodyPr wrap="square" lIns="0" tIns="0" rIns="0" bIns="0" rtlCol="0" anchor="ctr"/>
          <a:lstStyle/>
          <a:p>
            <a:pPr indent="0" marL="0">
              <a:buNone/>
            </a:pPr>
            <a:r>
              <a:rPr lang="en-US" sz="1400" b="1" spc="400" kern="0" dirty="0">
                <a:solidFill>
                  <a:srgbClr val="02C39A"/>
                </a:solidFill>
                <a:latin typeface="Calibri" pitchFamily="34" charset="0"/>
                <a:ea typeface="Calibri" pitchFamily="34" charset="-122"/>
                <a:cs typeface="Calibri" pitchFamily="34" charset="-120"/>
              </a:rPr>
              <a:t>HEALTHCARE ANALYTICS</a:t>
            </a:r>
            <a:endParaRPr lang="en-US" sz="1400" dirty="0"/>
          </a:p>
        </p:txBody>
      </p:sp>
      <p:sp>
        <p:nvSpPr>
          <p:cNvPr id="7" name="Text 4"/>
          <p:cNvSpPr/>
          <p:nvPr/>
        </p:nvSpPr>
        <p:spPr>
          <a:xfrm>
            <a:off x="822960" y="2788920"/>
            <a:ext cx="1005840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Healthcare Analytics Dashboard</a:t>
            </a:r>
            <a:endParaRPr lang="en-US" sz="4400" dirty="0"/>
          </a:p>
        </p:txBody>
      </p:sp>
      <p:sp>
        <p:nvSpPr>
          <p:cNvPr id="8" name="Text 5"/>
          <p:cNvSpPr/>
          <p:nvPr/>
        </p:nvSpPr>
        <p:spPr>
          <a:xfrm>
            <a:off x="822960" y="3794760"/>
            <a:ext cx="9601200" cy="548640"/>
          </a:xfrm>
          <a:prstGeom prst="rect">
            <a:avLst/>
          </a:prstGeom>
          <a:noFill/>
          <a:ln/>
        </p:spPr>
        <p:txBody>
          <a:bodyPr wrap="square" lIns="0" tIns="0" rIns="0" bIns="0" rtlCol="0" anchor="ctr"/>
          <a:lstStyle/>
          <a:p>
            <a:pPr indent="0" marL="0">
              <a:buNone/>
            </a:pPr>
            <a:r>
              <a:rPr lang="en-US" sz="1600" i="1" dirty="0">
                <a:solidFill>
                  <a:srgbClr val="C7D8DD"/>
                </a:solidFill>
                <a:latin typeface="Calibri" pitchFamily="34" charset="0"/>
                <a:ea typeface="Calibri" pitchFamily="34" charset="-122"/>
                <a:cs typeface="Calibri" pitchFamily="34" charset="-120"/>
              </a:rPr>
              <a:t>Transforming Patient &amp; Operational Data into Actionable Insight</a:t>
            </a:r>
            <a:endParaRPr lang="en-US" sz="1600" dirty="0"/>
          </a:p>
        </p:txBody>
      </p:sp>
      <p:sp>
        <p:nvSpPr>
          <p:cNvPr id="9" name="Shape 6"/>
          <p:cNvSpPr/>
          <p:nvPr/>
        </p:nvSpPr>
        <p:spPr>
          <a:xfrm>
            <a:off x="822960" y="4892040"/>
            <a:ext cx="0" cy="822960"/>
          </a:xfrm>
          <a:prstGeom prst="line">
            <a:avLst/>
          </a:prstGeom>
          <a:noFill/>
          <a:ln w="12700">
            <a:solidFill>
              <a:srgbClr val="3A5568"/>
            </a:solidFill>
            <a:prstDash val="solid"/>
          </a:ln>
        </p:spPr>
      </p:sp>
      <p:sp>
        <p:nvSpPr>
          <p:cNvPr id="10" name="Text 7"/>
          <p:cNvSpPr/>
          <p:nvPr/>
        </p:nvSpPr>
        <p:spPr>
          <a:xfrm>
            <a:off x="822960" y="4983480"/>
            <a:ext cx="5486400" cy="32004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Prepared By   </a:t>
            </a:r>
            <a:pPr indent="0" marL="0">
              <a:buNone/>
            </a:pPr>
            <a:r>
              <a:rPr lang="en-US" sz="1300" dirty="0">
                <a:solidFill>
                  <a:srgbClr val="FFFFFF"/>
                </a:solidFill>
                <a:latin typeface="Calibri" pitchFamily="34" charset="0"/>
                <a:ea typeface="Calibri" pitchFamily="34" charset="-122"/>
                <a:cs typeface="Calibri" pitchFamily="34" charset="-120"/>
              </a:rPr>
              <a:t>Unnati Sonkar</a:t>
            </a:r>
            <a:endParaRPr lang="en-US" sz="1300" dirty="0"/>
          </a:p>
        </p:txBody>
      </p:sp>
      <p:sp>
        <p:nvSpPr>
          <p:cNvPr id="11" name="Text 8"/>
          <p:cNvSpPr/>
          <p:nvPr/>
        </p:nvSpPr>
        <p:spPr>
          <a:xfrm>
            <a:off x="822960" y="5321808"/>
            <a:ext cx="7315200" cy="32004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Course   </a:t>
            </a:r>
            <a:pPr indent="0" marL="0">
              <a:buNone/>
            </a:pPr>
            <a:r>
              <a:rPr lang="en-US" sz="1300" dirty="0">
                <a:solidFill>
                  <a:srgbClr val="FFFFFF"/>
                </a:solidFill>
                <a:latin typeface="Calibri" pitchFamily="34" charset="0"/>
                <a:ea typeface="Calibri" pitchFamily="34" charset="-122"/>
                <a:cs typeface="Calibri" pitchFamily="34" charset="-120"/>
              </a:rPr>
              <a:t>M.Sc. Computational Science and Applications</a:t>
            </a:r>
            <a:endParaRPr lang="en-US" sz="1300" dirty="0"/>
          </a:p>
        </p:txBody>
      </p:sp>
      <p:sp>
        <p:nvSpPr>
          <p:cNvPr id="12" name="Text 9"/>
          <p:cNvSpPr/>
          <p:nvPr/>
        </p:nvSpPr>
        <p:spPr>
          <a:xfrm>
            <a:off x="822960" y="5660136"/>
            <a:ext cx="5486400" cy="32004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Tool   </a:t>
            </a:r>
            <a:pPr indent="0" marL="0">
              <a:buNone/>
            </a:pPr>
            <a:r>
              <a:rPr lang="en-US" sz="1300" dirty="0">
                <a:solidFill>
                  <a:srgbClr val="FFFFFF"/>
                </a:solidFill>
                <a:latin typeface="Calibri" pitchFamily="34" charset="0"/>
                <a:ea typeface="Calibri" pitchFamily="34" charset="-122"/>
                <a:cs typeface="Calibri" pitchFamily="34" charset="-120"/>
              </a:rPr>
              <a:t>Microsoft Power BI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Introduction</a:t>
            </a:r>
            <a:endParaRPr lang="en-US" sz="30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51606B"/>
                </a:solidFill>
                <a:latin typeface="Calibri" pitchFamily="34" charset="0"/>
                <a:ea typeface="Calibri" pitchFamily="34" charset="-122"/>
                <a:cs typeface="Calibri" pitchFamily="34" charset="-120"/>
              </a:rPr>
              <a:t>Why data analytics matters in modern healthcare</a:t>
            </a:r>
            <a:endParaRPr lang="en-US" sz="1400" dirty="0"/>
          </a:p>
        </p:txBody>
      </p:sp>
      <p:sp>
        <p:nvSpPr>
          <p:cNvPr id="4" name="Text 2"/>
          <p:cNvSpPr/>
          <p:nvPr/>
        </p:nvSpPr>
        <p:spPr>
          <a:xfrm>
            <a:off x="548640" y="1554480"/>
            <a:ext cx="6309360" cy="1463040"/>
          </a:xfrm>
          <a:prstGeom prst="rect">
            <a:avLst/>
          </a:prstGeom>
          <a:noFill/>
          <a:ln/>
        </p:spPr>
        <p:txBody>
          <a:bodyPr wrap="square" lIns="0" tIns="0" rIns="0" bIns="0" rtlCol="0" anchor="t"/>
          <a:lstStyle/>
          <a:p>
            <a:pPr indent="0" marL="0">
              <a:lnSpc>
                <a:spcPct val="125000"/>
              </a:lnSpc>
              <a:buNone/>
            </a:pPr>
            <a:r>
              <a:rPr lang="en-US" sz="1450" dirty="0">
                <a:solidFill>
                  <a:srgbClr val="33414A"/>
                </a:solidFill>
                <a:latin typeface="Calibri" pitchFamily="34" charset="0"/>
                <a:ea typeface="Calibri" pitchFamily="34" charset="-122"/>
                <a:cs typeface="Calibri" pitchFamily="34" charset="-120"/>
              </a:rPr>
              <a:t>Healthcare organizations generate large volumes of patient and operational data every day. This project develops an interactive Healthcare Analytics Dashboard using Microsoft Power BI to transform raw healthcare data into meaningful insights.</a:t>
            </a:r>
            <a:endParaRPr lang="en-US" sz="1450" dirty="0"/>
          </a:p>
        </p:txBody>
      </p:sp>
      <p:sp>
        <p:nvSpPr>
          <p:cNvPr id="5" name="Text 3"/>
          <p:cNvSpPr/>
          <p:nvPr/>
        </p:nvSpPr>
        <p:spPr>
          <a:xfrm>
            <a:off x="548640" y="3154680"/>
            <a:ext cx="6309360" cy="1371600"/>
          </a:xfrm>
          <a:prstGeom prst="rect">
            <a:avLst/>
          </a:prstGeom>
          <a:noFill/>
          <a:ln/>
        </p:spPr>
        <p:txBody>
          <a:bodyPr wrap="square" lIns="0" tIns="0" rIns="0" bIns="0" rtlCol="0" anchor="t"/>
          <a:lstStyle/>
          <a:p>
            <a:pPr indent="0" marL="0">
              <a:lnSpc>
                <a:spcPct val="125000"/>
              </a:lnSpc>
              <a:buNone/>
            </a:pPr>
            <a:r>
              <a:rPr lang="en-US" sz="1450" dirty="0">
                <a:solidFill>
                  <a:srgbClr val="33414A"/>
                </a:solidFill>
                <a:latin typeface="Calibri" pitchFamily="34" charset="0"/>
                <a:ea typeface="Calibri" pitchFamily="34" charset="-122"/>
                <a:cs typeface="Calibri" pitchFamily="34" charset="-120"/>
              </a:rPr>
              <a:t>The dashboard enables users to analyze patient demographics, medical conditions, admissions, billing, insurance providers, and test results — demonstrating how BI tools support informed, data-driven healthcare decisions.</a:t>
            </a:r>
            <a:endParaRPr lang="en-US" sz="1450" dirty="0"/>
          </a:p>
        </p:txBody>
      </p:sp>
      <p:sp>
        <p:nvSpPr>
          <p:cNvPr id="6" name="Shape 4"/>
          <p:cNvSpPr/>
          <p:nvPr/>
        </p:nvSpPr>
        <p:spPr>
          <a:xfrm>
            <a:off x="7223760" y="1554480"/>
            <a:ext cx="4389120" cy="4617720"/>
          </a:xfrm>
          <a:prstGeom prst="roundRect">
            <a:avLst>
              <a:gd name="adj" fmla="val 2500"/>
            </a:avLst>
          </a:prstGeom>
          <a:solidFill>
            <a:srgbClr val="0B2545"/>
          </a:solidFill>
          <a:ln/>
          <a:effectLst>
            <a:outerShdw sx="100000" sy="100000" kx="0" ky="0" algn="bl" rotWithShape="0" blurRad="101600" dist="38100" dir="2700000">
              <a:srgbClr val="000000">
                <a:alpha val="18000"/>
              </a:srgbClr>
            </a:outerShdw>
          </a:effectLst>
        </p:spPr>
      </p:sp>
      <p:sp>
        <p:nvSpPr>
          <p:cNvPr id="7" name="Text 5"/>
          <p:cNvSpPr/>
          <p:nvPr/>
        </p:nvSpPr>
        <p:spPr>
          <a:xfrm>
            <a:off x="7589520" y="1828800"/>
            <a:ext cx="3657600" cy="32004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PROJECT SNAPSHOT</a:t>
            </a:r>
            <a:endParaRPr lang="en-US" sz="1200" dirty="0"/>
          </a:p>
        </p:txBody>
      </p:sp>
      <p:sp>
        <p:nvSpPr>
          <p:cNvPr id="8"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3000" b="1" dirty="0">
                <a:solidFill>
                  <a:srgbClr val="02C39A"/>
                </a:solidFill>
                <a:latin typeface="Cambria" pitchFamily="34" charset="0"/>
                <a:ea typeface="Cambria" pitchFamily="34" charset="-122"/>
                <a:cs typeface="Cambria" pitchFamily="34" charset="-120"/>
              </a:rPr>
              <a:t>55,000+</a:t>
            </a:r>
            <a:endParaRPr lang="en-US" sz="3000" dirty="0"/>
          </a:p>
        </p:txBody>
      </p:sp>
      <p:sp>
        <p:nvSpPr>
          <p:cNvPr id="9" name="Text 7"/>
          <p:cNvSpPr/>
          <p:nvPr/>
        </p:nvSpPr>
        <p:spPr>
          <a:xfrm>
            <a:off x="7589520" y="2862072"/>
            <a:ext cx="3749040" cy="365760"/>
          </a:xfrm>
          <a:prstGeom prst="rect">
            <a:avLst/>
          </a:prstGeom>
          <a:noFill/>
          <a:ln/>
        </p:spPr>
        <p:txBody>
          <a:bodyPr wrap="square" lIns="0" tIns="0" rIns="0" bIns="0" rtlCol="0" anchor="ctr"/>
          <a:lstStyle/>
          <a:p>
            <a:pPr indent="0" marL="0">
              <a:buNone/>
            </a:pPr>
            <a:r>
              <a:rPr lang="en-US" sz="1250" dirty="0">
                <a:solidFill>
                  <a:srgbClr val="C7D8DD"/>
                </a:solidFill>
                <a:latin typeface="Calibri" pitchFamily="34" charset="0"/>
                <a:ea typeface="Calibri" pitchFamily="34" charset="-122"/>
                <a:cs typeface="Calibri" pitchFamily="34" charset="-120"/>
              </a:rPr>
              <a:t>Patient records analyzed</a:t>
            </a:r>
            <a:endParaRPr lang="en-US" sz="1250" dirty="0"/>
          </a:p>
        </p:txBody>
      </p:sp>
      <p:sp>
        <p:nvSpPr>
          <p:cNvPr id="10" name="Text 8"/>
          <p:cNvSpPr/>
          <p:nvPr/>
        </p:nvSpPr>
        <p:spPr>
          <a:xfrm>
            <a:off x="7589520" y="3383280"/>
            <a:ext cx="3657600" cy="502920"/>
          </a:xfrm>
          <a:prstGeom prst="rect">
            <a:avLst/>
          </a:prstGeom>
          <a:noFill/>
          <a:ln/>
        </p:spPr>
        <p:txBody>
          <a:bodyPr wrap="square" lIns="0" tIns="0" rIns="0" bIns="0" rtlCol="0" anchor="ctr"/>
          <a:lstStyle/>
          <a:p>
            <a:pPr indent="0" marL="0">
              <a:buNone/>
            </a:pPr>
            <a:r>
              <a:rPr lang="en-US" sz="3000" b="1" dirty="0">
                <a:solidFill>
                  <a:srgbClr val="02C39A"/>
                </a:solidFill>
                <a:latin typeface="Cambria" pitchFamily="34" charset="0"/>
                <a:ea typeface="Cambria" pitchFamily="34" charset="-122"/>
                <a:cs typeface="Cambria" pitchFamily="34" charset="-120"/>
              </a:rPr>
              <a:t>51.54 yrs</a:t>
            </a:r>
            <a:endParaRPr lang="en-US" sz="3000" dirty="0"/>
          </a:p>
        </p:txBody>
      </p:sp>
      <p:sp>
        <p:nvSpPr>
          <p:cNvPr id="11" name="Text 9"/>
          <p:cNvSpPr/>
          <p:nvPr/>
        </p:nvSpPr>
        <p:spPr>
          <a:xfrm>
            <a:off x="7589520" y="3913632"/>
            <a:ext cx="3749040" cy="365760"/>
          </a:xfrm>
          <a:prstGeom prst="rect">
            <a:avLst/>
          </a:prstGeom>
          <a:noFill/>
          <a:ln/>
        </p:spPr>
        <p:txBody>
          <a:bodyPr wrap="square" lIns="0" tIns="0" rIns="0" bIns="0" rtlCol="0" anchor="ctr"/>
          <a:lstStyle/>
          <a:p>
            <a:pPr indent="0" marL="0">
              <a:buNone/>
            </a:pPr>
            <a:r>
              <a:rPr lang="en-US" sz="1250" dirty="0">
                <a:solidFill>
                  <a:srgbClr val="C7D8DD"/>
                </a:solidFill>
                <a:latin typeface="Calibri" pitchFamily="34" charset="0"/>
                <a:ea typeface="Calibri" pitchFamily="34" charset="-122"/>
                <a:cs typeface="Calibri" pitchFamily="34" charset="-120"/>
              </a:rPr>
              <a:t>Average patient age</a:t>
            </a:r>
            <a:endParaRPr lang="en-US" sz="1250" dirty="0"/>
          </a:p>
        </p:txBody>
      </p:sp>
      <p:sp>
        <p:nvSpPr>
          <p:cNvPr id="12" name="Text 10"/>
          <p:cNvSpPr/>
          <p:nvPr/>
        </p:nvSpPr>
        <p:spPr>
          <a:xfrm>
            <a:off x="7589520" y="4434840"/>
            <a:ext cx="3657600" cy="502920"/>
          </a:xfrm>
          <a:prstGeom prst="rect">
            <a:avLst/>
          </a:prstGeom>
          <a:noFill/>
          <a:ln/>
        </p:spPr>
        <p:txBody>
          <a:bodyPr wrap="square" lIns="0" tIns="0" rIns="0" bIns="0" rtlCol="0" anchor="ctr"/>
          <a:lstStyle/>
          <a:p>
            <a:pPr indent="0" marL="0">
              <a:buNone/>
            </a:pPr>
            <a:r>
              <a:rPr lang="en-US" sz="3000" b="1" dirty="0">
                <a:solidFill>
                  <a:srgbClr val="02C39A"/>
                </a:solidFill>
                <a:latin typeface="Cambria" pitchFamily="34" charset="0"/>
                <a:ea typeface="Cambria" pitchFamily="34" charset="-122"/>
                <a:cs typeface="Cambria" pitchFamily="34" charset="-120"/>
              </a:rPr>
              <a:t>25.54K</a:t>
            </a:r>
            <a:endParaRPr lang="en-US" sz="3000" dirty="0"/>
          </a:p>
        </p:txBody>
      </p:sp>
      <p:sp>
        <p:nvSpPr>
          <p:cNvPr id="13" name="Text 11"/>
          <p:cNvSpPr/>
          <p:nvPr/>
        </p:nvSpPr>
        <p:spPr>
          <a:xfrm>
            <a:off x="7589520" y="4965192"/>
            <a:ext cx="3749040" cy="365760"/>
          </a:xfrm>
          <a:prstGeom prst="rect">
            <a:avLst/>
          </a:prstGeom>
          <a:noFill/>
          <a:ln/>
        </p:spPr>
        <p:txBody>
          <a:bodyPr wrap="square" lIns="0" tIns="0" rIns="0" bIns="0" rtlCol="0" anchor="ctr"/>
          <a:lstStyle/>
          <a:p>
            <a:pPr indent="0" marL="0">
              <a:buNone/>
            </a:pPr>
            <a:r>
              <a:rPr lang="en-US" sz="1250" dirty="0">
                <a:solidFill>
                  <a:srgbClr val="C7D8DD"/>
                </a:solidFill>
                <a:latin typeface="Calibri" pitchFamily="34" charset="0"/>
                <a:ea typeface="Calibri" pitchFamily="34" charset="-122"/>
                <a:cs typeface="Calibri" pitchFamily="34" charset="-120"/>
              </a:rPr>
              <a:t>Average billing amount</a:t>
            </a:r>
            <a:endParaRPr lang="en-US" sz="1250" dirty="0"/>
          </a:p>
        </p:txBody>
      </p:sp>
      <p:sp>
        <p:nvSpPr>
          <p:cNvPr id="14" name="Shape 12"/>
          <p:cNvSpPr/>
          <p:nvPr/>
        </p:nvSpPr>
        <p:spPr>
          <a:xfrm>
            <a:off x="7589520" y="5532120"/>
            <a:ext cx="3657600" cy="0"/>
          </a:xfrm>
          <a:prstGeom prst="line">
            <a:avLst/>
          </a:prstGeom>
          <a:noFill/>
          <a:ln w="12700">
            <a:solidFill>
              <a:srgbClr val="2E4258"/>
            </a:solidFill>
            <a:prstDash val="solid"/>
          </a:ln>
        </p:spPr>
      </p:sp>
      <p:sp>
        <p:nvSpPr>
          <p:cNvPr id="15" name="Text 13"/>
          <p:cNvSpPr/>
          <p:nvPr/>
        </p:nvSpPr>
        <p:spPr>
          <a:xfrm>
            <a:off x="7589520" y="5669280"/>
            <a:ext cx="3749040" cy="457200"/>
          </a:xfrm>
          <a:prstGeom prst="rect">
            <a:avLst/>
          </a:prstGeom>
          <a:noFill/>
          <a:ln/>
        </p:spPr>
        <p:txBody>
          <a:bodyPr wrap="square" lIns="0" tIns="0" rIns="0" bIns="0" rtlCol="0" anchor="ctr"/>
          <a:lstStyle/>
          <a:p>
            <a:pPr indent="0" marL="0">
              <a:buNone/>
            </a:pPr>
            <a:r>
              <a:rPr lang="en-US" sz="1150" i="1" dirty="0">
                <a:solidFill>
                  <a:srgbClr val="9FB4BE"/>
                </a:solidFill>
                <a:latin typeface="Calibri" pitchFamily="34" charset="0"/>
                <a:ea typeface="Calibri" pitchFamily="34" charset="-122"/>
                <a:cs typeface="Calibri" pitchFamily="34" charset="-120"/>
              </a:rPr>
              <a:t>Project Type: Data Analytics Dashboard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A"/>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Project Objectives</a:t>
            </a:r>
            <a:endParaRPr lang="en-US" sz="30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51606B"/>
                </a:solidFill>
                <a:latin typeface="Calibri" pitchFamily="34" charset="0"/>
                <a:ea typeface="Calibri" pitchFamily="34" charset="-122"/>
                <a:cs typeface="Calibri" pitchFamily="34" charset="-120"/>
              </a:rPr>
              <a:t>What this dashboard sets out to achieve</a:t>
            </a:r>
            <a:endParaRPr lang="en-US" sz="1400" dirty="0"/>
          </a:p>
        </p:txBody>
      </p:sp>
      <p:sp>
        <p:nvSpPr>
          <p:cNvPr id="4" name="Shape 2"/>
          <p:cNvSpPr/>
          <p:nvPr/>
        </p:nvSpPr>
        <p:spPr>
          <a:xfrm>
            <a:off x="548640" y="1508760"/>
            <a:ext cx="3514344" cy="1920240"/>
          </a:xfrm>
          <a:prstGeom prst="roundRect">
            <a:avLst>
              <a:gd name="adj" fmla="val 3810"/>
            </a:avLst>
          </a:prstGeom>
          <a:solidFill>
            <a:srgbClr val="FFFFFF"/>
          </a:solidFill>
          <a:ln/>
          <a:effectLst>
            <a:outerShdw sx="100000" sy="100000" kx="0" ky="0" algn="bl" rotWithShape="0" blurRad="76200" dist="25400" dir="2700000">
              <a:srgbClr val="000000">
                <a:alpha val="10000"/>
              </a:srgbClr>
            </a:outerShdw>
          </a:effectLst>
        </p:spPr>
      </p:sp>
      <p:sp>
        <p:nvSpPr>
          <p:cNvPr id="5" name="Shape 3"/>
          <p:cNvSpPr/>
          <p:nvPr/>
        </p:nvSpPr>
        <p:spPr>
          <a:xfrm>
            <a:off x="777240" y="1737360"/>
            <a:ext cx="457200" cy="457200"/>
          </a:xfrm>
          <a:prstGeom prst="ellipse">
            <a:avLst/>
          </a:prstGeom>
          <a:solidFill>
            <a:srgbClr val="028090"/>
          </a:solidFill>
          <a:ln/>
        </p:spPr>
      </p:sp>
      <p:sp>
        <p:nvSpPr>
          <p:cNvPr id="6" name="Text 4"/>
          <p:cNvSpPr/>
          <p:nvPr/>
        </p:nvSpPr>
        <p:spPr>
          <a:xfrm>
            <a:off x="777240"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777240" y="2331720"/>
            <a:ext cx="3057144" cy="5029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Design an Interactive Dashboard</a:t>
            </a:r>
            <a:endParaRPr lang="en-US" sz="1400" dirty="0"/>
          </a:p>
        </p:txBody>
      </p:sp>
      <p:sp>
        <p:nvSpPr>
          <p:cNvPr id="8" name="Text 6"/>
          <p:cNvSpPr/>
          <p:nvPr/>
        </p:nvSpPr>
        <p:spPr>
          <a:xfrm>
            <a:off x="777240" y="2807208"/>
            <a:ext cx="3057144" cy="548640"/>
          </a:xfrm>
          <a:prstGeom prst="rect">
            <a:avLst/>
          </a:prstGeom>
          <a:noFill/>
          <a:ln/>
        </p:spPr>
        <p:txBody>
          <a:bodyPr wrap="square" lIns="0" tIns="0" rIns="0" bIns="0" rtlCol="0" anchor="ctr"/>
          <a:lstStyle/>
          <a:p>
            <a:pPr indent="0" marL="0">
              <a:buNone/>
            </a:pPr>
            <a:r>
              <a:rPr lang="en-US" sz="1100" dirty="0">
                <a:solidFill>
                  <a:srgbClr val="51606B"/>
                </a:solidFill>
                <a:latin typeface="Calibri" pitchFamily="34" charset="0"/>
                <a:ea typeface="Calibri" pitchFamily="34" charset="-122"/>
                <a:cs typeface="Calibri" pitchFamily="34" charset="-120"/>
              </a:rPr>
              <a:t>Build a Power BI dashboard for exploring healthcare metrics.</a:t>
            </a:r>
            <a:endParaRPr lang="en-US" sz="1100" dirty="0"/>
          </a:p>
        </p:txBody>
      </p:sp>
      <p:sp>
        <p:nvSpPr>
          <p:cNvPr id="9" name="Shape 7"/>
          <p:cNvSpPr/>
          <p:nvPr/>
        </p:nvSpPr>
        <p:spPr>
          <a:xfrm>
            <a:off x="4337304" y="1508760"/>
            <a:ext cx="3514344" cy="1920240"/>
          </a:xfrm>
          <a:prstGeom prst="roundRect">
            <a:avLst>
              <a:gd name="adj" fmla="val 3810"/>
            </a:avLst>
          </a:prstGeom>
          <a:solidFill>
            <a:srgbClr val="FFFFFF"/>
          </a:solidFill>
          <a:ln/>
          <a:effectLst>
            <a:outerShdw sx="100000" sy="100000" kx="0" ky="0" algn="bl" rotWithShape="0" blurRad="76200" dist="25400" dir="2700000">
              <a:srgbClr val="000000">
                <a:alpha val="10000"/>
              </a:srgbClr>
            </a:outerShdw>
          </a:effectLst>
        </p:spPr>
      </p:sp>
      <p:sp>
        <p:nvSpPr>
          <p:cNvPr id="10" name="Shape 8"/>
          <p:cNvSpPr/>
          <p:nvPr/>
        </p:nvSpPr>
        <p:spPr>
          <a:xfrm>
            <a:off x="4565904" y="1737360"/>
            <a:ext cx="457200" cy="457200"/>
          </a:xfrm>
          <a:prstGeom prst="ellipse">
            <a:avLst/>
          </a:prstGeom>
          <a:solidFill>
            <a:srgbClr val="028090"/>
          </a:solidFill>
          <a:ln/>
        </p:spPr>
      </p:sp>
      <p:sp>
        <p:nvSpPr>
          <p:cNvPr id="11" name="Text 9"/>
          <p:cNvSpPr/>
          <p:nvPr/>
        </p:nvSpPr>
        <p:spPr>
          <a:xfrm>
            <a:off x="4565904"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4565904" y="2331720"/>
            <a:ext cx="3057144" cy="5029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Analyze Patient Demographics</a:t>
            </a:r>
            <a:endParaRPr lang="en-US" sz="1400" dirty="0"/>
          </a:p>
        </p:txBody>
      </p:sp>
      <p:sp>
        <p:nvSpPr>
          <p:cNvPr id="13" name="Text 11"/>
          <p:cNvSpPr/>
          <p:nvPr/>
        </p:nvSpPr>
        <p:spPr>
          <a:xfrm>
            <a:off x="4565904" y="2807208"/>
            <a:ext cx="3057144" cy="548640"/>
          </a:xfrm>
          <a:prstGeom prst="rect">
            <a:avLst/>
          </a:prstGeom>
          <a:noFill/>
          <a:ln/>
        </p:spPr>
        <p:txBody>
          <a:bodyPr wrap="square" lIns="0" tIns="0" rIns="0" bIns="0" rtlCol="0" anchor="ctr"/>
          <a:lstStyle/>
          <a:p>
            <a:pPr indent="0" marL="0">
              <a:buNone/>
            </a:pPr>
            <a:r>
              <a:rPr lang="en-US" sz="1100" dirty="0">
                <a:solidFill>
                  <a:srgbClr val="51606B"/>
                </a:solidFill>
                <a:latin typeface="Calibri" pitchFamily="34" charset="0"/>
                <a:ea typeface="Calibri" pitchFamily="34" charset="-122"/>
                <a:cs typeface="Calibri" pitchFamily="34" charset="-120"/>
              </a:rPr>
              <a:t>Understand age, gender, and blood-type distribution.</a:t>
            </a:r>
            <a:endParaRPr lang="en-US" sz="1100" dirty="0"/>
          </a:p>
        </p:txBody>
      </p:sp>
      <p:sp>
        <p:nvSpPr>
          <p:cNvPr id="14" name="Shape 12"/>
          <p:cNvSpPr/>
          <p:nvPr/>
        </p:nvSpPr>
        <p:spPr>
          <a:xfrm>
            <a:off x="8125968" y="1508760"/>
            <a:ext cx="3514344" cy="1920240"/>
          </a:xfrm>
          <a:prstGeom prst="roundRect">
            <a:avLst>
              <a:gd name="adj" fmla="val 3810"/>
            </a:avLst>
          </a:prstGeom>
          <a:solidFill>
            <a:srgbClr val="FFFFFF"/>
          </a:solidFill>
          <a:ln/>
          <a:effectLst>
            <a:outerShdw sx="100000" sy="100000" kx="0" ky="0" algn="bl" rotWithShape="0" blurRad="76200" dist="25400" dir="2700000">
              <a:srgbClr val="000000">
                <a:alpha val="10000"/>
              </a:srgbClr>
            </a:outerShdw>
          </a:effectLst>
        </p:spPr>
      </p:sp>
      <p:sp>
        <p:nvSpPr>
          <p:cNvPr id="15" name="Shape 13"/>
          <p:cNvSpPr/>
          <p:nvPr/>
        </p:nvSpPr>
        <p:spPr>
          <a:xfrm>
            <a:off x="8354568" y="1737360"/>
            <a:ext cx="457200" cy="457200"/>
          </a:xfrm>
          <a:prstGeom prst="ellipse">
            <a:avLst/>
          </a:prstGeom>
          <a:solidFill>
            <a:srgbClr val="028090"/>
          </a:solidFill>
          <a:ln/>
        </p:spPr>
      </p:sp>
      <p:sp>
        <p:nvSpPr>
          <p:cNvPr id="16" name="Text 14"/>
          <p:cNvSpPr/>
          <p:nvPr/>
        </p:nvSpPr>
        <p:spPr>
          <a:xfrm>
            <a:off x="8354568"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8354568" y="2331720"/>
            <a:ext cx="3057144" cy="5029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Monitor Medical Conditions</a:t>
            </a:r>
            <a:endParaRPr lang="en-US" sz="1400" dirty="0"/>
          </a:p>
        </p:txBody>
      </p:sp>
      <p:sp>
        <p:nvSpPr>
          <p:cNvPr id="18" name="Text 16"/>
          <p:cNvSpPr/>
          <p:nvPr/>
        </p:nvSpPr>
        <p:spPr>
          <a:xfrm>
            <a:off x="8354568" y="2807208"/>
            <a:ext cx="3057144" cy="548640"/>
          </a:xfrm>
          <a:prstGeom prst="rect">
            <a:avLst/>
          </a:prstGeom>
          <a:noFill/>
          <a:ln/>
        </p:spPr>
        <p:txBody>
          <a:bodyPr wrap="square" lIns="0" tIns="0" rIns="0" bIns="0" rtlCol="0" anchor="ctr"/>
          <a:lstStyle/>
          <a:p>
            <a:pPr indent="0" marL="0">
              <a:buNone/>
            </a:pPr>
            <a:r>
              <a:rPr lang="en-US" sz="1100" dirty="0">
                <a:solidFill>
                  <a:srgbClr val="51606B"/>
                </a:solidFill>
                <a:latin typeface="Calibri" pitchFamily="34" charset="0"/>
                <a:ea typeface="Calibri" pitchFamily="34" charset="-122"/>
                <a:cs typeface="Calibri" pitchFamily="34" charset="-120"/>
              </a:rPr>
              <a:t>Track prevalence of diseases and conditions.</a:t>
            </a:r>
            <a:endParaRPr lang="en-US" sz="1100" dirty="0"/>
          </a:p>
        </p:txBody>
      </p:sp>
      <p:sp>
        <p:nvSpPr>
          <p:cNvPr id="19" name="Shape 17"/>
          <p:cNvSpPr/>
          <p:nvPr/>
        </p:nvSpPr>
        <p:spPr>
          <a:xfrm>
            <a:off x="548640" y="3703320"/>
            <a:ext cx="3514344" cy="1920240"/>
          </a:xfrm>
          <a:prstGeom prst="roundRect">
            <a:avLst>
              <a:gd name="adj" fmla="val 3810"/>
            </a:avLst>
          </a:prstGeom>
          <a:solidFill>
            <a:srgbClr val="FFFFFF"/>
          </a:solidFill>
          <a:ln/>
          <a:effectLst>
            <a:outerShdw sx="100000" sy="100000" kx="0" ky="0" algn="bl" rotWithShape="0" blurRad="76200" dist="25400" dir="2700000">
              <a:srgbClr val="000000">
                <a:alpha val="10000"/>
              </a:srgbClr>
            </a:outerShdw>
          </a:effectLst>
        </p:spPr>
      </p:sp>
      <p:sp>
        <p:nvSpPr>
          <p:cNvPr id="20" name="Shape 18"/>
          <p:cNvSpPr/>
          <p:nvPr/>
        </p:nvSpPr>
        <p:spPr>
          <a:xfrm>
            <a:off x="777240" y="3931920"/>
            <a:ext cx="457200" cy="457200"/>
          </a:xfrm>
          <a:prstGeom prst="ellipse">
            <a:avLst/>
          </a:prstGeom>
          <a:solidFill>
            <a:srgbClr val="028090"/>
          </a:solidFill>
          <a:ln/>
        </p:spPr>
      </p:sp>
      <p:sp>
        <p:nvSpPr>
          <p:cNvPr id="21" name="Text 19"/>
          <p:cNvSpPr/>
          <p:nvPr/>
        </p:nvSpPr>
        <p:spPr>
          <a:xfrm>
            <a:off x="777240"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77240" y="4526280"/>
            <a:ext cx="3057144" cy="5029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Compare Insurance Providers</a:t>
            </a:r>
            <a:endParaRPr lang="en-US" sz="1400" dirty="0"/>
          </a:p>
        </p:txBody>
      </p:sp>
      <p:sp>
        <p:nvSpPr>
          <p:cNvPr id="23" name="Text 21"/>
          <p:cNvSpPr/>
          <p:nvPr/>
        </p:nvSpPr>
        <p:spPr>
          <a:xfrm>
            <a:off x="777240" y="5001768"/>
            <a:ext cx="3057144" cy="548640"/>
          </a:xfrm>
          <a:prstGeom prst="rect">
            <a:avLst/>
          </a:prstGeom>
          <a:noFill/>
          <a:ln/>
        </p:spPr>
        <p:txBody>
          <a:bodyPr wrap="square" lIns="0" tIns="0" rIns="0" bIns="0" rtlCol="0" anchor="ctr"/>
          <a:lstStyle/>
          <a:p>
            <a:pPr indent="0" marL="0">
              <a:buNone/>
            </a:pPr>
            <a:r>
              <a:rPr lang="en-US" sz="1100" dirty="0">
                <a:solidFill>
                  <a:srgbClr val="51606B"/>
                </a:solidFill>
                <a:latin typeface="Calibri" pitchFamily="34" charset="0"/>
                <a:ea typeface="Calibri" pitchFamily="34" charset="-122"/>
                <a:cs typeface="Calibri" pitchFamily="34" charset="-120"/>
              </a:rPr>
              <a:t>Evaluate performance across providers.</a:t>
            </a:r>
            <a:endParaRPr lang="en-US" sz="1100" dirty="0"/>
          </a:p>
        </p:txBody>
      </p:sp>
      <p:sp>
        <p:nvSpPr>
          <p:cNvPr id="24" name="Shape 22"/>
          <p:cNvSpPr/>
          <p:nvPr/>
        </p:nvSpPr>
        <p:spPr>
          <a:xfrm>
            <a:off x="4337304" y="3703320"/>
            <a:ext cx="3514344" cy="1920240"/>
          </a:xfrm>
          <a:prstGeom prst="roundRect">
            <a:avLst>
              <a:gd name="adj" fmla="val 3810"/>
            </a:avLst>
          </a:prstGeom>
          <a:solidFill>
            <a:srgbClr val="FFFFFF"/>
          </a:solidFill>
          <a:ln/>
          <a:effectLst>
            <a:outerShdw sx="100000" sy="100000" kx="0" ky="0" algn="bl" rotWithShape="0" blurRad="76200" dist="25400" dir="2700000">
              <a:srgbClr val="000000">
                <a:alpha val="10000"/>
              </a:srgbClr>
            </a:outerShdw>
          </a:effectLst>
        </p:spPr>
      </p:sp>
      <p:sp>
        <p:nvSpPr>
          <p:cNvPr id="25" name="Shape 23"/>
          <p:cNvSpPr/>
          <p:nvPr/>
        </p:nvSpPr>
        <p:spPr>
          <a:xfrm>
            <a:off x="4565904" y="3931920"/>
            <a:ext cx="457200" cy="457200"/>
          </a:xfrm>
          <a:prstGeom prst="ellipse">
            <a:avLst/>
          </a:prstGeom>
          <a:solidFill>
            <a:srgbClr val="028090"/>
          </a:solidFill>
          <a:ln/>
        </p:spPr>
      </p:sp>
      <p:sp>
        <p:nvSpPr>
          <p:cNvPr id="26" name="Text 24"/>
          <p:cNvSpPr/>
          <p:nvPr/>
        </p:nvSpPr>
        <p:spPr>
          <a:xfrm>
            <a:off x="4565904"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p:nvPr/>
        </p:nvSpPr>
        <p:spPr>
          <a:xfrm>
            <a:off x="4565904" y="4526280"/>
            <a:ext cx="3057144" cy="5029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Analyze Billing Information</a:t>
            </a:r>
            <a:endParaRPr lang="en-US" sz="1400" dirty="0"/>
          </a:p>
        </p:txBody>
      </p:sp>
      <p:sp>
        <p:nvSpPr>
          <p:cNvPr id="28" name="Text 26"/>
          <p:cNvSpPr/>
          <p:nvPr/>
        </p:nvSpPr>
        <p:spPr>
          <a:xfrm>
            <a:off x="4565904" y="5001768"/>
            <a:ext cx="3057144" cy="548640"/>
          </a:xfrm>
          <a:prstGeom prst="rect">
            <a:avLst/>
          </a:prstGeom>
          <a:noFill/>
          <a:ln/>
        </p:spPr>
        <p:txBody>
          <a:bodyPr wrap="square" lIns="0" tIns="0" rIns="0" bIns="0" rtlCol="0" anchor="ctr"/>
          <a:lstStyle/>
          <a:p>
            <a:pPr indent="0" marL="0">
              <a:buNone/>
            </a:pPr>
            <a:r>
              <a:rPr lang="en-US" sz="1100" dirty="0">
                <a:solidFill>
                  <a:srgbClr val="51606B"/>
                </a:solidFill>
                <a:latin typeface="Calibri" pitchFamily="34" charset="0"/>
                <a:ea typeface="Calibri" pitchFamily="34" charset="-122"/>
                <a:cs typeface="Calibri" pitchFamily="34" charset="-120"/>
              </a:rPr>
              <a:t>Study treatment cost patterns.</a:t>
            </a:r>
            <a:endParaRPr lang="en-US" sz="1100" dirty="0"/>
          </a:p>
        </p:txBody>
      </p:sp>
      <p:sp>
        <p:nvSpPr>
          <p:cNvPr id="29" name="Shape 27"/>
          <p:cNvSpPr/>
          <p:nvPr/>
        </p:nvSpPr>
        <p:spPr>
          <a:xfrm>
            <a:off x="8125968" y="3703320"/>
            <a:ext cx="3514344" cy="1920240"/>
          </a:xfrm>
          <a:prstGeom prst="roundRect">
            <a:avLst>
              <a:gd name="adj" fmla="val 3810"/>
            </a:avLst>
          </a:prstGeom>
          <a:solidFill>
            <a:srgbClr val="FFFFFF"/>
          </a:solidFill>
          <a:ln/>
          <a:effectLst>
            <a:outerShdw sx="100000" sy="100000" kx="0" ky="0" algn="bl" rotWithShape="0" blurRad="76200" dist="25400" dir="2700000">
              <a:srgbClr val="000000">
                <a:alpha val="10000"/>
              </a:srgbClr>
            </a:outerShdw>
          </a:effectLst>
        </p:spPr>
      </p:sp>
      <p:sp>
        <p:nvSpPr>
          <p:cNvPr id="30" name="Shape 28"/>
          <p:cNvSpPr/>
          <p:nvPr/>
        </p:nvSpPr>
        <p:spPr>
          <a:xfrm>
            <a:off x="8354568" y="3931920"/>
            <a:ext cx="457200" cy="457200"/>
          </a:xfrm>
          <a:prstGeom prst="ellipse">
            <a:avLst/>
          </a:prstGeom>
          <a:solidFill>
            <a:srgbClr val="028090"/>
          </a:solidFill>
          <a:ln/>
        </p:spPr>
      </p:sp>
      <p:sp>
        <p:nvSpPr>
          <p:cNvPr id="31" name="Text 29"/>
          <p:cNvSpPr/>
          <p:nvPr/>
        </p:nvSpPr>
        <p:spPr>
          <a:xfrm>
            <a:off x="8354568"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2" name="Text 30"/>
          <p:cNvSpPr/>
          <p:nvPr/>
        </p:nvSpPr>
        <p:spPr>
          <a:xfrm>
            <a:off x="8354568" y="4526280"/>
            <a:ext cx="3057144" cy="5029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Study Admission Types</a:t>
            </a:r>
            <a:endParaRPr lang="en-US" sz="1400" dirty="0"/>
          </a:p>
        </p:txBody>
      </p:sp>
      <p:sp>
        <p:nvSpPr>
          <p:cNvPr id="33" name="Text 31"/>
          <p:cNvSpPr/>
          <p:nvPr/>
        </p:nvSpPr>
        <p:spPr>
          <a:xfrm>
            <a:off x="8354568" y="5001768"/>
            <a:ext cx="3057144" cy="548640"/>
          </a:xfrm>
          <a:prstGeom prst="rect">
            <a:avLst/>
          </a:prstGeom>
          <a:noFill/>
          <a:ln/>
        </p:spPr>
        <p:txBody>
          <a:bodyPr wrap="square" lIns="0" tIns="0" rIns="0" bIns="0" rtlCol="0" anchor="ctr"/>
          <a:lstStyle/>
          <a:p>
            <a:pPr indent="0" marL="0">
              <a:buNone/>
            </a:pPr>
            <a:r>
              <a:rPr lang="en-US" sz="1100" dirty="0">
                <a:solidFill>
                  <a:srgbClr val="51606B"/>
                </a:solidFill>
                <a:latin typeface="Calibri" pitchFamily="34" charset="0"/>
                <a:ea typeface="Calibri" pitchFamily="34" charset="-122"/>
                <a:cs typeface="Calibri" pitchFamily="34" charset="-120"/>
              </a:rPr>
              <a:t>Examine emergency, urgent, and elective trends.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Dataset Description</a:t>
            </a:r>
            <a:endParaRPr lang="en-US" sz="30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51606B"/>
                </a:solidFill>
                <a:latin typeface="Calibri" pitchFamily="34" charset="0"/>
                <a:ea typeface="Calibri" pitchFamily="34" charset="-122"/>
                <a:cs typeface="Calibri" pitchFamily="34" charset="-120"/>
              </a:rPr>
              <a:t>Key attributes captured in the healthcare dataset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7315200" cy="914400"/>
        </p:xfrm>
        <a:graphic>
          <a:graphicData uri="http://schemas.openxmlformats.org/drawingml/2006/table">
            <a:tbl>
              <a:tblPr/>
              <a:tblGrid>
                <a:gridCol w="3108960"/>
                <a:gridCol w="4206240"/>
              </a:tblGrid>
              <a:tr h="40233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Attribute</a:t>
                      </a:r>
                      <a:endParaRPr lang="en-US" sz="125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0B2545"/>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Description</a:t>
                      </a:r>
                      <a:endParaRPr lang="en-US" sz="125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0B2545"/>
                    </a:solidFill>
                  </a:tcPr>
                </a:tc>
              </a:tr>
              <a:tr h="402336">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Patient Name</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FFFFF"/>
                    </a:solidFill>
                  </a:tcPr>
                </a:tc>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Name of patient</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Age</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1F6F6"/>
                    </a:solidFill>
                  </a:tcPr>
                </a:tc>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Patient age</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1F6F6"/>
                    </a:solidFill>
                  </a:tcPr>
                </a:tc>
              </a:tr>
              <a:tr h="402336">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Gender</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FFFFF"/>
                    </a:solidFill>
                  </a:tcPr>
                </a:tc>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Male / Female</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Medical Condition</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1F6F6"/>
                    </a:solidFill>
                  </a:tcPr>
                </a:tc>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Disease or condition</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1F6F6"/>
                    </a:solidFill>
                  </a:tcPr>
                </a:tc>
              </a:tr>
              <a:tr h="402336">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Blood Type</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FFFFF"/>
                    </a:solidFill>
                  </a:tcPr>
                </a:tc>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Blood group</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Insurance Provider</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1F6F6"/>
                    </a:solidFill>
                  </a:tcPr>
                </a:tc>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Insurance company</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1F6F6"/>
                    </a:solidFill>
                  </a:tcPr>
                </a:tc>
              </a:tr>
              <a:tr h="402336">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Billing Amount</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FFFFF"/>
                    </a:solidFill>
                  </a:tcPr>
                </a:tc>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Treatment cost</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Admission Type</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1F6F6"/>
                    </a:solidFill>
                  </a:tcPr>
                </a:tc>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Emergency, Urgent, Elective</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1F6F6"/>
                    </a:solidFill>
                  </a:tcPr>
                </a:tc>
              </a:tr>
              <a:tr h="402336">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Test Results</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FFFFF"/>
                    </a:solidFill>
                  </a:tcPr>
                </a:tc>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Normal / Abnormal / Inconclusive</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Hospital</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1F6F6"/>
                    </a:solidFill>
                  </a:tcPr>
                </a:tc>
                <a:tc>
                  <a:txBody>
                    <a:bodyPr/>
                    <a:lstStyle/>
                    <a:p>
                      <a:pPr indent="0" marL="0">
                        <a:buNone/>
                      </a:pPr>
                      <a:r>
                        <a:rPr lang="en-US" sz="1200" dirty="0">
                          <a:solidFill>
                            <a:srgbClr val="33414A"/>
                          </a:solidFill>
                          <a:latin typeface="Calibri" pitchFamily="34" charset="0"/>
                          <a:ea typeface="Calibri" pitchFamily="34" charset="-122"/>
                          <a:cs typeface="Calibri" pitchFamily="34" charset="-120"/>
                        </a:rPr>
                        <a:t>Hospital name</a:t>
                      </a:r>
                      <a:endParaRPr lang="en-US" sz="1200" dirty="0">
                        <a:latin typeface="Calibri" charset="0"/>
                        <a:ea typeface="Calibri" charset="0"/>
                        <a:cs typeface="Calibri" charset="0"/>
                      </a:endParaRPr>
                    </a:p>
                  </a:txBody>
                  <a:tcPr marL="91440" marR="91440" marT="45720" marB="45720" anchor="ctr">
                    <a:lnL w="6350" cap="flat" cmpd="sng" algn="ctr">
                      <a:solidFill>
                        <a:srgbClr val="E1E8E8"/>
                      </a:solidFill>
                      <a:prstDash val="solid"/>
                      <a:round/>
                      <a:headEnd type="none" w="med" len="med"/>
                      <a:tailEnd type="none" w="med" len="med"/>
                    </a:lnL>
                    <a:lnR w="6350" cap="flat" cmpd="sng" algn="ctr">
                      <a:solidFill>
                        <a:srgbClr val="E1E8E8"/>
                      </a:solidFill>
                      <a:prstDash val="solid"/>
                      <a:round/>
                      <a:headEnd type="none" w="med" len="med"/>
                      <a:tailEnd type="none" w="med" len="med"/>
                    </a:lnR>
                    <a:lnT w="6350" cap="flat" cmpd="sng" algn="ctr">
                      <a:solidFill>
                        <a:srgbClr val="E1E8E8"/>
                      </a:solidFill>
                      <a:prstDash val="solid"/>
                      <a:round/>
                      <a:headEnd type="none" w="med" len="med"/>
                      <a:tailEnd type="none" w="med" len="med"/>
                    </a:lnT>
                    <a:lnB w="6350" cap="flat" cmpd="sng" algn="ctr">
                      <a:solidFill>
                        <a:srgbClr val="E1E8E8"/>
                      </a:solidFill>
                      <a:prstDash val="solid"/>
                      <a:round/>
                      <a:headEnd type="none" w="med" len="med"/>
                      <a:tailEnd type="none" w="med" len="med"/>
                    </a:lnB>
                    <a:solidFill>
                      <a:srgbClr val="F1F6F6"/>
                    </a:solidFill>
                  </a:tcPr>
                </a:tc>
              </a:tr>
            </a:tbl>
          </a:graphicData>
        </a:graphic>
      </p:graphicFrame>
      <p:sp>
        <p:nvSpPr>
          <p:cNvPr id="5" name="Shape 2"/>
          <p:cNvSpPr/>
          <p:nvPr/>
        </p:nvSpPr>
        <p:spPr>
          <a:xfrm>
            <a:off x="8229600" y="1508760"/>
            <a:ext cx="3383280" cy="4617720"/>
          </a:xfrm>
          <a:prstGeom prst="roundRect">
            <a:avLst>
              <a:gd name="adj" fmla="val 2703"/>
            </a:avLst>
          </a:prstGeom>
          <a:solidFill>
            <a:srgbClr val="EAF6F5"/>
          </a:solidFill>
          <a:ln/>
        </p:spPr>
      </p:sp>
      <p:sp>
        <p:nvSpPr>
          <p:cNvPr id="6" name="Shape 3"/>
          <p:cNvSpPr/>
          <p:nvPr/>
        </p:nvSpPr>
        <p:spPr>
          <a:xfrm>
            <a:off x="8549640" y="1828800"/>
            <a:ext cx="640080" cy="640080"/>
          </a:xfrm>
          <a:prstGeom prst="ellipse">
            <a:avLst/>
          </a:prstGeom>
          <a:solidFill>
            <a:srgbClr val="028090"/>
          </a:solidFill>
          <a:ln/>
        </p:spPr>
      </p:sp>
      <p:pic>
        <p:nvPicPr>
          <p:cNvPr id="7" name="Image 0" descr="preencoded.png">    </p:cNvPr>
          <p:cNvPicPr>
            <a:picLocks noChangeAspect="1"/>
          </p:cNvPicPr>
          <p:nvPr/>
        </p:nvPicPr>
        <p:blipFill>
          <a:blip r:embed="rId1"/>
          <a:stretch>
            <a:fillRect/>
          </a:stretch>
        </p:blipFill>
        <p:spPr>
          <a:xfrm>
            <a:off x="8716061" y="1995221"/>
            <a:ext cx="307238" cy="307238"/>
          </a:xfrm>
          <a:prstGeom prst="rect">
            <a:avLst/>
          </a:prstGeom>
        </p:spPr>
      </p:pic>
      <p:sp>
        <p:nvSpPr>
          <p:cNvPr id="8" name="Text 4"/>
          <p:cNvSpPr/>
          <p:nvPr/>
        </p:nvSpPr>
        <p:spPr>
          <a:xfrm>
            <a:off x="9326880" y="1828800"/>
            <a:ext cx="2103120" cy="36576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10</a:t>
            </a:r>
            <a:endParaRPr lang="en-US" sz="2200" dirty="0"/>
          </a:p>
        </p:txBody>
      </p:sp>
      <p:sp>
        <p:nvSpPr>
          <p:cNvPr id="9" name="Text 5"/>
          <p:cNvSpPr/>
          <p:nvPr/>
        </p:nvSpPr>
        <p:spPr>
          <a:xfrm>
            <a:off x="9326880" y="2194560"/>
            <a:ext cx="2103120" cy="274320"/>
          </a:xfrm>
          <a:prstGeom prst="rect">
            <a:avLst/>
          </a:prstGeom>
          <a:noFill/>
          <a:ln/>
        </p:spPr>
        <p:txBody>
          <a:bodyPr wrap="square" lIns="0" tIns="0" rIns="0" bIns="0" rtlCol="0" anchor="ctr"/>
          <a:lstStyle/>
          <a:p>
            <a:pPr indent="0" marL="0">
              <a:buNone/>
            </a:pPr>
            <a:r>
              <a:rPr lang="en-US" sz="1100" dirty="0">
                <a:solidFill>
                  <a:srgbClr val="51606B"/>
                </a:solidFill>
                <a:latin typeface="Calibri" pitchFamily="34" charset="0"/>
                <a:ea typeface="Calibri" pitchFamily="34" charset="-122"/>
                <a:cs typeface="Calibri" pitchFamily="34" charset="-120"/>
              </a:rPr>
              <a:t>Core Attributes</a:t>
            </a:r>
            <a:endParaRPr lang="en-US" sz="1100" dirty="0"/>
          </a:p>
        </p:txBody>
      </p:sp>
      <p:sp>
        <p:nvSpPr>
          <p:cNvPr id="10" name="Text 6"/>
          <p:cNvSpPr/>
          <p:nvPr/>
        </p:nvSpPr>
        <p:spPr>
          <a:xfrm>
            <a:off x="8549640" y="2743200"/>
            <a:ext cx="2788920" cy="1463040"/>
          </a:xfrm>
          <a:prstGeom prst="rect">
            <a:avLst/>
          </a:prstGeom>
          <a:noFill/>
          <a:ln/>
        </p:spPr>
        <p:txBody>
          <a:bodyPr wrap="square" lIns="0" tIns="0" rIns="0" bIns="0" rtlCol="0" anchor="ctr"/>
          <a:lstStyle/>
          <a:p>
            <a:pPr indent="0" marL="0">
              <a:lnSpc>
                <a:spcPct val="130000"/>
              </a:lnSpc>
              <a:buNone/>
            </a:pPr>
            <a:r>
              <a:rPr lang="en-US" sz="1200" dirty="0">
                <a:solidFill>
                  <a:srgbClr val="33414A"/>
                </a:solidFill>
                <a:latin typeface="Calibri" pitchFamily="34" charset="0"/>
                <a:ea typeface="Calibri" pitchFamily="34" charset="-122"/>
                <a:cs typeface="Calibri" pitchFamily="34" charset="-120"/>
              </a:rPr>
              <a:t>The dataset spans demographic, clinical, financial, and operational fields — enabling a 360° view of patient care and hospital performance.</a:t>
            </a:r>
            <a:endParaRPr lang="en-US" sz="1200" dirty="0"/>
          </a:p>
        </p:txBody>
      </p:sp>
      <p:sp>
        <p:nvSpPr>
          <p:cNvPr id="11" name="Shape 7"/>
          <p:cNvSpPr/>
          <p:nvPr/>
        </p:nvSpPr>
        <p:spPr>
          <a:xfrm>
            <a:off x="8549640" y="4434840"/>
            <a:ext cx="2743200" cy="0"/>
          </a:xfrm>
          <a:prstGeom prst="line">
            <a:avLst/>
          </a:prstGeom>
          <a:noFill/>
          <a:ln w="12700">
            <a:solidFill>
              <a:srgbClr val="CFE3E1"/>
            </a:solidFill>
            <a:prstDash val="solid"/>
          </a:ln>
        </p:spPr>
      </p:sp>
      <p:sp>
        <p:nvSpPr>
          <p:cNvPr id="12" name="Text 8"/>
          <p:cNvSpPr/>
          <p:nvPr/>
        </p:nvSpPr>
        <p:spPr>
          <a:xfrm>
            <a:off x="8549640" y="4572000"/>
            <a:ext cx="2788920" cy="320040"/>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Format: CSV Dataset</a:t>
            </a:r>
            <a:endParaRPr lang="en-US" sz="1150" dirty="0"/>
          </a:p>
        </p:txBody>
      </p:sp>
      <p:sp>
        <p:nvSpPr>
          <p:cNvPr id="13" name="Text 9"/>
          <p:cNvSpPr/>
          <p:nvPr/>
        </p:nvSpPr>
        <p:spPr>
          <a:xfrm>
            <a:off x="8549640" y="4892040"/>
            <a:ext cx="2788920" cy="320040"/>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Source: Healthcare Dataset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Tools &amp; Technologies</a:t>
            </a:r>
            <a:endParaRPr lang="en-US" sz="30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9FB4BE"/>
                </a:solidFill>
                <a:latin typeface="Calibri" pitchFamily="34" charset="0"/>
                <a:ea typeface="Calibri" pitchFamily="34" charset="-122"/>
                <a:cs typeface="Calibri" pitchFamily="34" charset="-120"/>
              </a:rPr>
              <a:t>The technology stack behind the dashboard</a:t>
            </a:r>
            <a:endParaRPr lang="en-US" sz="1400" dirty="0"/>
          </a:p>
        </p:txBody>
      </p:sp>
      <p:sp>
        <p:nvSpPr>
          <p:cNvPr id="4" name="Shape 2"/>
          <p:cNvSpPr/>
          <p:nvPr/>
        </p:nvSpPr>
        <p:spPr>
          <a:xfrm>
            <a:off x="548640" y="1737360"/>
            <a:ext cx="1998878" cy="3291840"/>
          </a:xfrm>
          <a:prstGeom prst="roundRect">
            <a:avLst>
              <a:gd name="adj" fmla="val 4575"/>
            </a:avLst>
          </a:prstGeom>
          <a:solidFill>
            <a:srgbClr val="12365A"/>
          </a:solidFill>
          <a:ln/>
        </p:spPr>
      </p:sp>
      <p:sp>
        <p:nvSpPr>
          <p:cNvPr id="5" name="Shape 3"/>
          <p:cNvSpPr/>
          <p:nvPr/>
        </p:nvSpPr>
        <p:spPr>
          <a:xfrm>
            <a:off x="1228039" y="2103120"/>
            <a:ext cx="640080" cy="64008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392631" y="2267712"/>
            <a:ext cx="310896" cy="310896"/>
          </a:xfrm>
          <a:prstGeom prst="rect">
            <a:avLst/>
          </a:prstGeom>
        </p:spPr>
      </p:pic>
      <p:sp>
        <p:nvSpPr>
          <p:cNvPr id="7" name="Text 4"/>
          <p:cNvSpPr/>
          <p:nvPr/>
        </p:nvSpPr>
        <p:spPr>
          <a:xfrm>
            <a:off x="685800" y="3017520"/>
            <a:ext cx="1724558"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Microsoft Power BI</a:t>
            </a:r>
            <a:endParaRPr lang="en-US" sz="1350" dirty="0"/>
          </a:p>
        </p:txBody>
      </p:sp>
      <p:sp>
        <p:nvSpPr>
          <p:cNvPr id="8" name="Text 5"/>
          <p:cNvSpPr/>
          <p:nvPr/>
        </p:nvSpPr>
        <p:spPr>
          <a:xfrm>
            <a:off x="685800" y="3794760"/>
            <a:ext cx="1724558" cy="1051560"/>
          </a:xfrm>
          <a:prstGeom prst="rect">
            <a:avLst/>
          </a:prstGeom>
          <a:noFill/>
          <a:ln/>
        </p:spPr>
        <p:txBody>
          <a:bodyPr wrap="square" lIns="0" tIns="0" rIns="0" bIns="0" rtlCol="0" anchor="ctr"/>
          <a:lstStyle/>
          <a:p>
            <a:pPr algn="ctr" indent="0" marL="0">
              <a:buNone/>
            </a:pPr>
            <a:r>
              <a:rPr lang="en-US" sz="1050" dirty="0">
                <a:solidFill>
                  <a:srgbClr val="AFC3CC"/>
                </a:solidFill>
                <a:latin typeface="Calibri" pitchFamily="34" charset="0"/>
                <a:ea typeface="Calibri" pitchFamily="34" charset="-122"/>
                <a:cs typeface="Calibri" pitchFamily="34" charset="-120"/>
              </a:rPr>
              <a:t>Core BI platform for dashboard design</a:t>
            </a:r>
            <a:endParaRPr lang="en-US" sz="1050" dirty="0"/>
          </a:p>
        </p:txBody>
      </p:sp>
      <p:sp>
        <p:nvSpPr>
          <p:cNvPr id="9" name="Shape 6"/>
          <p:cNvSpPr/>
          <p:nvPr/>
        </p:nvSpPr>
        <p:spPr>
          <a:xfrm>
            <a:off x="2821838" y="1737360"/>
            <a:ext cx="1998878" cy="3291840"/>
          </a:xfrm>
          <a:prstGeom prst="roundRect">
            <a:avLst>
              <a:gd name="adj" fmla="val 4575"/>
            </a:avLst>
          </a:prstGeom>
          <a:solidFill>
            <a:srgbClr val="12365A"/>
          </a:solidFill>
          <a:ln/>
        </p:spPr>
      </p:sp>
      <p:sp>
        <p:nvSpPr>
          <p:cNvPr id="10" name="Shape 7"/>
          <p:cNvSpPr/>
          <p:nvPr/>
        </p:nvSpPr>
        <p:spPr>
          <a:xfrm>
            <a:off x="3501238" y="2103120"/>
            <a:ext cx="640080" cy="640080"/>
          </a:xfrm>
          <a:prstGeom prst="ellipse">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3665830" y="2267712"/>
            <a:ext cx="310896" cy="310896"/>
          </a:xfrm>
          <a:prstGeom prst="rect">
            <a:avLst/>
          </a:prstGeom>
        </p:spPr>
      </p:pic>
      <p:sp>
        <p:nvSpPr>
          <p:cNvPr id="12" name="Text 8"/>
          <p:cNvSpPr/>
          <p:nvPr/>
        </p:nvSpPr>
        <p:spPr>
          <a:xfrm>
            <a:off x="2958998" y="3017520"/>
            <a:ext cx="1724558"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Power Query</a:t>
            </a:r>
            <a:endParaRPr lang="en-US" sz="1350" dirty="0"/>
          </a:p>
        </p:txBody>
      </p:sp>
      <p:sp>
        <p:nvSpPr>
          <p:cNvPr id="13" name="Text 9"/>
          <p:cNvSpPr/>
          <p:nvPr/>
        </p:nvSpPr>
        <p:spPr>
          <a:xfrm>
            <a:off x="2958998" y="3794760"/>
            <a:ext cx="1724558" cy="1051560"/>
          </a:xfrm>
          <a:prstGeom prst="rect">
            <a:avLst/>
          </a:prstGeom>
          <a:noFill/>
          <a:ln/>
        </p:spPr>
        <p:txBody>
          <a:bodyPr wrap="square" lIns="0" tIns="0" rIns="0" bIns="0" rtlCol="0" anchor="ctr"/>
          <a:lstStyle/>
          <a:p>
            <a:pPr algn="ctr" indent="0" marL="0">
              <a:buNone/>
            </a:pPr>
            <a:r>
              <a:rPr lang="en-US" sz="1050" dirty="0">
                <a:solidFill>
                  <a:srgbClr val="AFC3CC"/>
                </a:solidFill>
                <a:latin typeface="Calibri" pitchFamily="34" charset="0"/>
                <a:ea typeface="Calibri" pitchFamily="34" charset="-122"/>
                <a:cs typeface="Calibri" pitchFamily="34" charset="-120"/>
              </a:rPr>
              <a:t>Data transformation &amp; shaping</a:t>
            </a:r>
            <a:endParaRPr lang="en-US" sz="1050" dirty="0"/>
          </a:p>
        </p:txBody>
      </p:sp>
      <p:sp>
        <p:nvSpPr>
          <p:cNvPr id="14" name="Shape 10"/>
          <p:cNvSpPr/>
          <p:nvPr/>
        </p:nvSpPr>
        <p:spPr>
          <a:xfrm>
            <a:off x="5095037" y="1737360"/>
            <a:ext cx="1998878" cy="3291840"/>
          </a:xfrm>
          <a:prstGeom prst="roundRect">
            <a:avLst>
              <a:gd name="adj" fmla="val 4575"/>
            </a:avLst>
          </a:prstGeom>
          <a:solidFill>
            <a:srgbClr val="12365A"/>
          </a:solidFill>
          <a:ln/>
        </p:spPr>
      </p:sp>
      <p:sp>
        <p:nvSpPr>
          <p:cNvPr id="15" name="Shape 11"/>
          <p:cNvSpPr/>
          <p:nvPr/>
        </p:nvSpPr>
        <p:spPr>
          <a:xfrm>
            <a:off x="5774436" y="2103120"/>
            <a:ext cx="640080" cy="640080"/>
          </a:xfrm>
          <a:prstGeom prst="ellipse">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5939028" y="2267712"/>
            <a:ext cx="310896" cy="310896"/>
          </a:xfrm>
          <a:prstGeom prst="rect">
            <a:avLst/>
          </a:prstGeom>
        </p:spPr>
      </p:pic>
      <p:sp>
        <p:nvSpPr>
          <p:cNvPr id="17" name="Text 12"/>
          <p:cNvSpPr/>
          <p:nvPr/>
        </p:nvSpPr>
        <p:spPr>
          <a:xfrm>
            <a:off x="5232197" y="3017520"/>
            <a:ext cx="1724558"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DAX</a:t>
            </a:r>
            <a:endParaRPr lang="en-US" sz="1350" dirty="0"/>
          </a:p>
        </p:txBody>
      </p:sp>
      <p:sp>
        <p:nvSpPr>
          <p:cNvPr id="18" name="Text 13"/>
          <p:cNvSpPr/>
          <p:nvPr/>
        </p:nvSpPr>
        <p:spPr>
          <a:xfrm>
            <a:off x="5232197" y="3794760"/>
            <a:ext cx="1724558" cy="1051560"/>
          </a:xfrm>
          <a:prstGeom prst="rect">
            <a:avLst/>
          </a:prstGeom>
          <a:noFill/>
          <a:ln/>
        </p:spPr>
        <p:txBody>
          <a:bodyPr wrap="square" lIns="0" tIns="0" rIns="0" bIns="0" rtlCol="0" anchor="ctr"/>
          <a:lstStyle/>
          <a:p>
            <a:pPr algn="ctr" indent="0" marL="0">
              <a:buNone/>
            </a:pPr>
            <a:r>
              <a:rPr lang="en-US" sz="1050" dirty="0">
                <a:solidFill>
                  <a:srgbClr val="AFC3CC"/>
                </a:solidFill>
                <a:latin typeface="Calibri" pitchFamily="34" charset="0"/>
                <a:ea typeface="Calibri" pitchFamily="34" charset="-122"/>
                <a:cs typeface="Calibri" pitchFamily="34" charset="-120"/>
              </a:rPr>
              <a:t>Calculated measures &amp; KPIs</a:t>
            </a:r>
            <a:endParaRPr lang="en-US" sz="1050" dirty="0"/>
          </a:p>
        </p:txBody>
      </p:sp>
      <p:sp>
        <p:nvSpPr>
          <p:cNvPr id="19" name="Shape 14"/>
          <p:cNvSpPr/>
          <p:nvPr/>
        </p:nvSpPr>
        <p:spPr>
          <a:xfrm>
            <a:off x="7368235" y="1737360"/>
            <a:ext cx="1998878" cy="3291840"/>
          </a:xfrm>
          <a:prstGeom prst="roundRect">
            <a:avLst>
              <a:gd name="adj" fmla="val 4575"/>
            </a:avLst>
          </a:prstGeom>
          <a:solidFill>
            <a:srgbClr val="12365A"/>
          </a:solidFill>
          <a:ln/>
        </p:spPr>
      </p:sp>
      <p:sp>
        <p:nvSpPr>
          <p:cNvPr id="20" name="Shape 15"/>
          <p:cNvSpPr/>
          <p:nvPr/>
        </p:nvSpPr>
        <p:spPr>
          <a:xfrm>
            <a:off x="8047634" y="2103120"/>
            <a:ext cx="640080" cy="640080"/>
          </a:xfrm>
          <a:prstGeom prst="ellipse">
            <a:avLst/>
          </a:prstGeom>
          <a:solidFill>
            <a:srgbClr val="028090"/>
          </a:solidFill>
          <a:ln/>
        </p:spPr>
      </p:sp>
      <p:pic>
        <p:nvPicPr>
          <p:cNvPr id="21" name="Image 3" descr="preencoded.png">    </p:cNvPr>
          <p:cNvPicPr>
            <a:picLocks noChangeAspect="1"/>
          </p:cNvPicPr>
          <p:nvPr/>
        </p:nvPicPr>
        <p:blipFill>
          <a:blip r:embed="rId4"/>
          <a:stretch>
            <a:fillRect/>
          </a:stretch>
        </p:blipFill>
        <p:spPr>
          <a:xfrm>
            <a:off x="8212226" y="2267712"/>
            <a:ext cx="310896" cy="310896"/>
          </a:xfrm>
          <a:prstGeom prst="rect">
            <a:avLst/>
          </a:prstGeom>
        </p:spPr>
      </p:pic>
      <p:sp>
        <p:nvSpPr>
          <p:cNvPr id="22" name="Text 16"/>
          <p:cNvSpPr/>
          <p:nvPr/>
        </p:nvSpPr>
        <p:spPr>
          <a:xfrm>
            <a:off x="7505395" y="3017520"/>
            <a:ext cx="1724558"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CSV Dataset</a:t>
            </a:r>
            <a:endParaRPr lang="en-US" sz="1350" dirty="0"/>
          </a:p>
        </p:txBody>
      </p:sp>
      <p:sp>
        <p:nvSpPr>
          <p:cNvPr id="23" name="Text 17"/>
          <p:cNvSpPr/>
          <p:nvPr/>
        </p:nvSpPr>
        <p:spPr>
          <a:xfrm>
            <a:off x="7505395" y="3794760"/>
            <a:ext cx="1724558" cy="1051560"/>
          </a:xfrm>
          <a:prstGeom prst="rect">
            <a:avLst/>
          </a:prstGeom>
          <a:noFill/>
          <a:ln/>
        </p:spPr>
        <p:txBody>
          <a:bodyPr wrap="square" lIns="0" tIns="0" rIns="0" bIns="0" rtlCol="0" anchor="ctr"/>
          <a:lstStyle/>
          <a:p>
            <a:pPr algn="ctr" indent="0" marL="0">
              <a:buNone/>
            </a:pPr>
            <a:r>
              <a:rPr lang="en-US" sz="1050" dirty="0">
                <a:solidFill>
                  <a:srgbClr val="AFC3CC"/>
                </a:solidFill>
                <a:latin typeface="Calibri" pitchFamily="34" charset="0"/>
                <a:ea typeface="Calibri" pitchFamily="34" charset="-122"/>
                <a:cs typeface="Calibri" pitchFamily="34" charset="-120"/>
              </a:rPr>
              <a:t>Raw healthcare data source</a:t>
            </a:r>
            <a:endParaRPr lang="en-US" sz="1050" dirty="0"/>
          </a:p>
        </p:txBody>
      </p:sp>
      <p:sp>
        <p:nvSpPr>
          <p:cNvPr id="24" name="Shape 18"/>
          <p:cNvSpPr/>
          <p:nvPr/>
        </p:nvSpPr>
        <p:spPr>
          <a:xfrm>
            <a:off x="9641434" y="1737360"/>
            <a:ext cx="1998878" cy="3291840"/>
          </a:xfrm>
          <a:prstGeom prst="roundRect">
            <a:avLst>
              <a:gd name="adj" fmla="val 4575"/>
            </a:avLst>
          </a:prstGeom>
          <a:solidFill>
            <a:srgbClr val="12365A"/>
          </a:solidFill>
          <a:ln/>
        </p:spPr>
      </p:sp>
      <p:sp>
        <p:nvSpPr>
          <p:cNvPr id="25" name="Shape 19"/>
          <p:cNvSpPr/>
          <p:nvPr/>
        </p:nvSpPr>
        <p:spPr>
          <a:xfrm>
            <a:off x="10320833" y="2103120"/>
            <a:ext cx="640080" cy="640080"/>
          </a:xfrm>
          <a:prstGeom prst="ellipse">
            <a:avLst/>
          </a:prstGeom>
          <a:solidFill>
            <a:srgbClr val="028090"/>
          </a:solidFill>
          <a:ln/>
        </p:spPr>
      </p:sp>
      <p:pic>
        <p:nvPicPr>
          <p:cNvPr id="26" name="Image 4" descr="preencoded.png">    </p:cNvPr>
          <p:cNvPicPr>
            <a:picLocks noChangeAspect="1"/>
          </p:cNvPicPr>
          <p:nvPr/>
        </p:nvPicPr>
        <p:blipFill>
          <a:blip r:embed="rId5"/>
          <a:stretch>
            <a:fillRect/>
          </a:stretch>
        </p:blipFill>
        <p:spPr>
          <a:xfrm>
            <a:off x="10485425" y="2267712"/>
            <a:ext cx="310896" cy="310896"/>
          </a:xfrm>
          <a:prstGeom prst="rect">
            <a:avLst/>
          </a:prstGeom>
        </p:spPr>
      </p:pic>
      <p:sp>
        <p:nvSpPr>
          <p:cNvPr id="27" name="Text 20"/>
          <p:cNvSpPr/>
          <p:nvPr/>
        </p:nvSpPr>
        <p:spPr>
          <a:xfrm>
            <a:off x="9778594" y="3017520"/>
            <a:ext cx="1724558"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Microsoft Excel</a:t>
            </a:r>
            <a:endParaRPr lang="en-US" sz="1350" dirty="0"/>
          </a:p>
        </p:txBody>
      </p:sp>
      <p:sp>
        <p:nvSpPr>
          <p:cNvPr id="28" name="Text 21"/>
          <p:cNvSpPr/>
          <p:nvPr/>
        </p:nvSpPr>
        <p:spPr>
          <a:xfrm>
            <a:off x="9778594" y="3794760"/>
            <a:ext cx="1724558" cy="1051560"/>
          </a:xfrm>
          <a:prstGeom prst="rect">
            <a:avLst/>
          </a:prstGeom>
          <a:noFill/>
          <a:ln/>
        </p:spPr>
        <p:txBody>
          <a:bodyPr wrap="square" lIns="0" tIns="0" rIns="0" bIns="0" rtlCol="0" anchor="ctr"/>
          <a:lstStyle/>
          <a:p>
            <a:pPr algn="ctr" indent="0" marL="0">
              <a:buNone/>
            </a:pPr>
            <a:r>
              <a:rPr lang="en-US" sz="1050" dirty="0">
                <a:solidFill>
                  <a:srgbClr val="AFC3CC"/>
                </a:solidFill>
                <a:latin typeface="Calibri" pitchFamily="34" charset="0"/>
                <a:ea typeface="Calibri" pitchFamily="34" charset="-122"/>
                <a:cs typeface="Calibri" pitchFamily="34" charset="-120"/>
              </a:rPr>
              <a:t>Preliminary data review</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Dashboard Components</a:t>
            </a:r>
            <a:endParaRPr lang="en-US" sz="30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51606B"/>
                </a:solidFill>
                <a:latin typeface="Calibri" pitchFamily="34" charset="0"/>
                <a:ea typeface="Calibri" pitchFamily="34" charset="-122"/>
                <a:cs typeface="Calibri" pitchFamily="34" charset="-120"/>
              </a:rPr>
              <a:t>KPIs, charts, and filters built into the dashboard</a:t>
            </a:r>
            <a:endParaRPr lang="en-US" sz="1400" dirty="0"/>
          </a:p>
        </p:txBody>
      </p:sp>
      <p:sp>
        <p:nvSpPr>
          <p:cNvPr id="4" name="Shape 2"/>
          <p:cNvSpPr/>
          <p:nvPr/>
        </p:nvSpPr>
        <p:spPr>
          <a:xfrm>
            <a:off x="548640" y="1508760"/>
            <a:ext cx="3514344" cy="1188720"/>
          </a:xfrm>
          <a:prstGeom prst="roundRect">
            <a:avLst>
              <a:gd name="adj" fmla="val 7692"/>
            </a:avLst>
          </a:prstGeom>
          <a:solidFill>
            <a:srgbClr val="EAF6F5"/>
          </a:solidFill>
          <a:ln/>
        </p:spPr>
      </p:sp>
      <p:pic>
        <p:nvPicPr>
          <p:cNvPr id="5" name="Image 0" descr="preencoded.png">    </p:cNvPr>
          <p:cNvPicPr>
            <a:picLocks noChangeAspect="1"/>
          </p:cNvPicPr>
          <p:nvPr/>
        </p:nvPicPr>
        <p:blipFill>
          <a:blip r:embed="rId1"/>
          <a:stretch>
            <a:fillRect/>
          </a:stretch>
        </p:blipFill>
        <p:spPr>
          <a:xfrm>
            <a:off x="777240" y="1828800"/>
            <a:ext cx="548640" cy="548640"/>
          </a:xfrm>
          <a:prstGeom prst="rect">
            <a:avLst/>
          </a:prstGeom>
        </p:spPr>
      </p:pic>
      <p:sp>
        <p:nvSpPr>
          <p:cNvPr id="6" name="Text 3"/>
          <p:cNvSpPr/>
          <p:nvPr/>
        </p:nvSpPr>
        <p:spPr>
          <a:xfrm>
            <a:off x="1508760" y="1508760"/>
            <a:ext cx="2417064" cy="11887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Total Patients</a:t>
            </a:r>
            <a:endParaRPr lang="en-US" sz="1400" dirty="0"/>
          </a:p>
        </p:txBody>
      </p:sp>
      <p:sp>
        <p:nvSpPr>
          <p:cNvPr id="7" name="Shape 4"/>
          <p:cNvSpPr/>
          <p:nvPr/>
        </p:nvSpPr>
        <p:spPr>
          <a:xfrm>
            <a:off x="4337304" y="1508760"/>
            <a:ext cx="3514344" cy="1188720"/>
          </a:xfrm>
          <a:prstGeom prst="roundRect">
            <a:avLst>
              <a:gd name="adj" fmla="val 7692"/>
            </a:avLst>
          </a:prstGeom>
          <a:solidFill>
            <a:srgbClr val="EAF6F5"/>
          </a:solidFill>
          <a:ln/>
        </p:spPr>
      </p:sp>
      <p:pic>
        <p:nvPicPr>
          <p:cNvPr id="8" name="Image 1" descr="preencoded.png">    </p:cNvPr>
          <p:cNvPicPr>
            <a:picLocks noChangeAspect="1"/>
          </p:cNvPicPr>
          <p:nvPr/>
        </p:nvPicPr>
        <p:blipFill>
          <a:blip r:embed="rId2"/>
          <a:stretch>
            <a:fillRect/>
          </a:stretch>
        </p:blipFill>
        <p:spPr>
          <a:xfrm>
            <a:off x="4565904" y="1828800"/>
            <a:ext cx="548640" cy="548640"/>
          </a:xfrm>
          <a:prstGeom prst="rect">
            <a:avLst/>
          </a:prstGeom>
        </p:spPr>
      </p:pic>
      <p:sp>
        <p:nvSpPr>
          <p:cNvPr id="9" name="Text 5"/>
          <p:cNvSpPr/>
          <p:nvPr/>
        </p:nvSpPr>
        <p:spPr>
          <a:xfrm>
            <a:off x="5297424" y="1508760"/>
            <a:ext cx="2417064" cy="11887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Average Age</a:t>
            </a:r>
            <a:endParaRPr lang="en-US" sz="1400" dirty="0"/>
          </a:p>
        </p:txBody>
      </p:sp>
      <p:sp>
        <p:nvSpPr>
          <p:cNvPr id="10" name="Shape 6"/>
          <p:cNvSpPr/>
          <p:nvPr/>
        </p:nvSpPr>
        <p:spPr>
          <a:xfrm>
            <a:off x="8125968" y="1508760"/>
            <a:ext cx="3514344" cy="1188720"/>
          </a:xfrm>
          <a:prstGeom prst="roundRect">
            <a:avLst>
              <a:gd name="adj" fmla="val 7692"/>
            </a:avLst>
          </a:prstGeom>
          <a:solidFill>
            <a:srgbClr val="EAF6F5"/>
          </a:solidFill>
          <a:ln/>
        </p:spPr>
      </p:sp>
      <p:pic>
        <p:nvPicPr>
          <p:cNvPr id="11" name="Image 2" descr="preencoded.png">    </p:cNvPr>
          <p:cNvPicPr>
            <a:picLocks noChangeAspect="1"/>
          </p:cNvPicPr>
          <p:nvPr/>
        </p:nvPicPr>
        <p:blipFill>
          <a:blip r:embed="rId3"/>
          <a:stretch>
            <a:fillRect/>
          </a:stretch>
        </p:blipFill>
        <p:spPr>
          <a:xfrm>
            <a:off x="8354568" y="1828800"/>
            <a:ext cx="548640" cy="548640"/>
          </a:xfrm>
          <a:prstGeom prst="rect">
            <a:avLst/>
          </a:prstGeom>
        </p:spPr>
      </p:pic>
      <p:sp>
        <p:nvSpPr>
          <p:cNvPr id="12" name="Text 7"/>
          <p:cNvSpPr/>
          <p:nvPr/>
        </p:nvSpPr>
        <p:spPr>
          <a:xfrm>
            <a:off x="9086088" y="1508760"/>
            <a:ext cx="2417064" cy="11887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Average Billing Amount</a:t>
            </a:r>
            <a:endParaRPr lang="en-US" sz="1400" dirty="0"/>
          </a:p>
        </p:txBody>
      </p:sp>
      <p:sp>
        <p:nvSpPr>
          <p:cNvPr id="13" name="Text 8"/>
          <p:cNvSpPr/>
          <p:nvPr/>
        </p:nvSpPr>
        <p:spPr>
          <a:xfrm>
            <a:off x="548640" y="2926080"/>
            <a:ext cx="3657600" cy="32004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CHARTS</a:t>
            </a:r>
            <a:endParaRPr lang="en-US" sz="1200" dirty="0"/>
          </a:p>
        </p:txBody>
      </p:sp>
      <p:sp>
        <p:nvSpPr>
          <p:cNvPr id="14" name="Shape 9"/>
          <p:cNvSpPr/>
          <p:nvPr/>
        </p:nvSpPr>
        <p:spPr>
          <a:xfrm>
            <a:off x="548640" y="3337560"/>
            <a:ext cx="2057400" cy="1371600"/>
          </a:xfrm>
          <a:prstGeom prst="roundRect">
            <a:avLst>
              <a:gd name="adj" fmla="val 5333"/>
            </a:avLst>
          </a:prstGeom>
          <a:solidFill>
            <a:srgbClr val="028090"/>
          </a:solidFill>
          <a:ln/>
        </p:spPr>
      </p:sp>
      <p:pic>
        <p:nvPicPr>
          <p:cNvPr id="15" name="Image 3" descr="preencoded.png">    </p:cNvPr>
          <p:cNvPicPr>
            <a:picLocks noChangeAspect="1"/>
          </p:cNvPicPr>
          <p:nvPr/>
        </p:nvPicPr>
        <p:blipFill>
          <a:blip r:embed="rId4"/>
          <a:stretch>
            <a:fillRect/>
          </a:stretch>
        </p:blipFill>
        <p:spPr>
          <a:xfrm>
            <a:off x="1394460" y="3520440"/>
            <a:ext cx="365760" cy="365760"/>
          </a:xfrm>
          <a:prstGeom prst="rect">
            <a:avLst/>
          </a:prstGeom>
        </p:spPr>
      </p:pic>
      <p:sp>
        <p:nvSpPr>
          <p:cNvPr id="16" name="Text 10"/>
          <p:cNvSpPr/>
          <p:nvPr/>
        </p:nvSpPr>
        <p:spPr>
          <a:xfrm>
            <a:off x="640080" y="3959352"/>
            <a:ext cx="1874520"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Gender Distribution</a:t>
            </a:r>
            <a:endParaRPr lang="en-US" sz="1000" dirty="0"/>
          </a:p>
        </p:txBody>
      </p:sp>
      <p:sp>
        <p:nvSpPr>
          <p:cNvPr id="17" name="Shape 11"/>
          <p:cNvSpPr/>
          <p:nvPr/>
        </p:nvSpPr>
        <p:spPr>
          <a:xfrm>
            <a:off x="2807208" y="3337560"/>
            <a:ext cx="2057400" cy="1371600"/>
          </a:xfrm>
          <a:prstGeom prst="roundRect">
            <a:avLst>
              <a:gd name="adj" fmla="val 5333"/>
            </a:avLst>
          </a:prstGeom>
          <a:solidFill>
            <a:srgbClr val="028090"/>
          </a:solidFill>
          <a:ln/>
        </p:spPr>
      </p:sp>
      <p:pic>
        <p:nvPicPr>
          <p:cNvPr id="18" name="Image 4" descr="preencoded.png">    </p:cNvPr>
          <p:cNvPicPr>
            <a:picLocks noChangeAspect="1"/>
          </p:cNvPicPr>
          <p:nvPr/>
        </p:nvPicPr>
        <p:blipFill>
          <a:blip r:embed="rId5"/>
          <a:stretch>
            <a:fillRect/>
          </a:stretch>
        </p:blipFill>
        <p:spPr>
          <a:xfrm>
            <a:off x="3653028" y="3520440"/>
            <a:ext cx="365760" cy="365760"/>
          </a:xfrm>
          <a:prstGeom prst="rect">
            <a:avLst/>
          </a:prstGeom>
        </p:spPr>
      </p:pic>
      <p:sp>
        <p:nvSpPr>
          <p:cNvPr id="19" name="Text 12"/>
          <p:cNvSpPr/>
          <p:nvPr/>
        </p:nvSpPr>
        <p:spPr>
          <a:xfrm>
            <a:off x="2898648" y="3959352"/>
            <a:ext cx="1874520"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Medical Condition Analysis</a:t>
            </a:r>
            <a:endParaRPr lang="en-US" sz="1000" dirty="0"/>
          </a:p>
        </p:txBody>
      </p:sp>
      <p:sp>
        <p:nvSpPr>
          <p:cNvPr id="20" name="Shape 13"/>
          <p:cNvSpPr/>
          <p:nvPr/>
        </p:nvSpPr>
        <p:spPr>
          <a:xfrm>
            <a:off x="5065776" y="3337560"/>
            <a:ext cx="2057400" cy="1371600"/>
          </a:xfrm>
          <a:prstGeom prst="roundRect">
            <a:avLst>
              <a:gd name="adj" fmla="val 5333"/>
            </a:avLst>
          </a:prstGeom>
          <a:solidFill>
            <a:srgbClr val="028090"/>
          </a:solidFill>
          <a:ln/>
        </p:spPr>
      </p:sp>
      <p:pic>
        <p:nvPicPr>
          <p:cNvPr id="21" name="Image 5" descr="preencoded.png">    </p:cNvPr>
          <p:cNvPicPr>
            <a:picLocks noChangeAspect="1"/>
          </p:cNvPicPr>
          <p:nvPr/>
        </p:nvPicPr>
        <p:blipFill>
          <a:blip r:embed="rId6"/>
          <a:stretch>
            <a:fillRect/>
          </a:stretch>
        </p:blipFill>
        <p:spPr>
          <a:xfrm>
            <a:off x="5911596" y="3520440"/>
            <a:ext cx="365760" cy="365760"/>
          </a:xfrm>
          <a:prstGeom prst="rect">
            <a:avLst/>
          </a:prstGeom>
        </p:spPr>
      </p:pic>
      <p:sp>
        <p:nvSpPr>
          <p:cNvPr id="22" name="Text 14"/>
          <p:cNvSpPr/>
          <p:nvPr/>
        </p:nvSpPr>
        <p:spPr>
          <a:xfrm>
            <a:off x="5157216" y="3959352"/>
            <a:ext cx="1874520"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Admission Type Analysis</a:t>
            </a:r>
            <a:endParaRPr lang="en-US" sz="1000" dirty="0"/>
          </a:p>
        </p:txBody>
      </p:sp>
      <p:sp>
        <p:nvSpPr>
          <p:cNvPr id="23" name="Shape 15"/>
          <p:cNvSpPr/>
          <p:nvPr/>
        </p:nvSpPr>
        <p:spPr>
          <a:xfrm>
            <a:off x="7324344" y="3337560"/>
            <a:ext cx="2057400" cy="1371600"/>
          </a:xfrm>
          <a:prstGeom prst="roundRect">
            <a:avLst>
              <a:gd name="adj" fmla="val 5333"/>
            </a:avLst>
          </a:prstGeom>
          <a:solidFill>
            <a:srgbClr val="028090"/>
          </a:solidFill>
          <a:ln/>
        </p:spPr>
      </p:sp>
      <p:pic>
        <p:nvPicPr>
          <p:cNvPr id="24" name="Image 6" descr="preencoded.png">    </p:cNvPr>
          <p:cNvPicPr>
            <a:picLocks noChangeAspect="1"/>
          </p:cNvPicPr>
          <p:nvPr/>
        </p:nvPicPr>
        <p:blipFill>
          <a:blip r:embed="rId7"/>
          <a:stretch>
            <a:fillRect/>
          </a:stretch>
        </p:blipFill>
        <p:spPr>
          <a:xfrm>
            <a:off x="8170164" y="3520440"/>
            <a:ext cx="365760" cy="365760"/>
          </a:xfrm>
          <a:prstGeom prst="rect">
            <a:avLst/>
          </a:prstGeom>
        </p:spPr>
      </p:pic>
      <p:sp>
        <p:nvSpPr>
          <p:cNvPr id="25" name="Text 16"/>
          <p:cNvSpPr/>
          <p:nvPr/>
        </p:nvSpPr>
        <p:spPr>
          <a:xfrm>
            <a:off x="7415784" y="3959352"/>
            <a:ext cx="1874520"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Insurance Provider Analysis</a:t>
            </a:r>
            <a:endParaRPr lang="en-US" sz="1000" dirty="0"/>
          </a:p>
        </p:txBody>
      </p:sp>
      <p:sp>
        <p:nvSpPr>
          <p:cNvPr id="26" name="Shape 17"/>
          <p:cNvSpPr/>
          <p:nvPr/>
        </p:nvSpPr>
        <p:spPr>
          <a:xfrm>
            <a:off x="9582912" y="3337560"/>
            <a:ext cx="2057400" cy="1371600"/>
          </a:xfrm>
          <a:prstGeom prst="roundRect">
            <a:avLst>
              <a:gd name="adj" fmla="val 5333"/>
            </a:avLst>
          </a:prstGeom>
          <a:solidFill>
            <a:srgbClr val="028090"/>
          </a:solidFill>
          <a:ln/>
        </p:spPr>
      </p:sp>
      <p:pic>
        <p:nvPicPr>
          <p:cNvPr id="27" name="Image 7" descr="preencoded.png">    </p:cNvPr>
          <p:cNvPicPr>
            <a:picLocks noChangeAspect="1"/>
          </p:cNvPicPr>
          <p:nvPr/>
        </p:nvPicPr>
        <p:blipFill>
          <a:blip r:embed="rId8"/>
          <a:stretch>
            <a:fillRect/>
          </a:stretch>
        </p:blipFill>
        <p:spPr>
          <a:xfrm>
            <a:off x="10428732" y="3520440"/>
            <a:ext cx="365760" cy="365760"/>
          </a:xfrm>
          <a:prstGeom prst="rect">
            <a:avLst/>
          </a:prstGeom>
        </p:spPr>
      </p:pic>
      <p:sp>
        <p:nvSpPr>
          <p:cNvPr id="28" name="Text 18"/>
          <p:cNvSpPr/>
          <p:nvPr/>
        </p:nvSpPr>
        <p:spPr>
          <a:xfrm>
            <a:off x="9674352" y="3959352"/>
            <a:ext cx="1874520"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Test Result Distribution</a:t>
            </a:r>
            <a:endParaRPr lang="en-US" sz="1000" dirty="0"/>
          </a:p>
        </p:txBody>
      </p:sp>
      <p:sp>
        <p:nvSpPr>
          <p:cNvPr id="29" name="Text 19"/>
          <p:cNvSpPr/>
          <p:nvPr/>
        </p:nvSpPr>
        <p:spPr>
          <a:xfrm>
            <a:off x="548640" y="4983480"/>
            <a:ext cx="3657600" cy="32004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FILTERS</a:t>
            </a:r>
            <a:endParaRPr lang="en-US" sz="1200" dirty="0"/>
          </a:p>
        </p:txBody>
      </p:sp>
      <p:sp>
        <p:nvSpPr>
          <p:cNvPr id="30" name="Shape 20"/>
          <p:cNvSpPr/>
          <p:nvPr/>
        </p:nvSpPr>
        <p:spPr>
          <a:xfrm>
            <a:off x="548640" y="5349240"/>
            <a:ext cx="1051560" cy="457200"/>
          </a:xfrm>
          <a:prstGeom prst="roundRect">
            <a:avLst>
              <a:gd name="adj" fmla="val 50000"/>
            </a:avLst>
          </a:prstGeom>
          <a:solidFill>
            <a:srgbClr val="EAF6F5"/>
          </a:solidFill>
          <a:ln w="12700">
            <a:solidFill>
              <a:srgbClr val="028090"/>
            </a:solidFill>
            <a:prstDash val="solid"/>
          </a:ln>
        </p:spPr>
      </p:sp>
      <p:sp>
        <p:nvSpPr>
          <p:cNvPr id="31" name="Text 21"/>
          <p:cNvSpPr/>
          <p:nvPr/>
        </p:nvSpPr>
        <p:spPr>
          <a:xfrm>
            <a:off x="548640" y="5349240"/>
            <a:ext cx="1051560" cy="457200"/>
          </a:xfrm>
          <a:prstGeom prst="rect">
            <a:avLst/>
          </a:prstGeom>
          <a:noFill/>
          <a:ln/>
        </p:spPr>
        <p:txBody>
          <a:bodyPr wrap="square" lIns="0" tIns="0" rIns="0" bIns="0" rtlCol="0" anchor="ctr"/>
          <a:lstStyle/>
          <a:p>
            <a:pPr algn="ctr" indent="0" marL="0">
              <a:buNone/>
            </a:pPr>
            <a:r>
              <a:rPr lang="en-US" sz="1100" dirty="0">
                <a:solidFill>
                  <a:srgbClr val="0B2545"/>
                </a:solidFill>
                <a:latin typeface="Calibri" pitchFamily="34" charset="0"/>
                <a:ea typeface="Calibri" pitchFamily="34" charset="-122"/>
                <a:cs typeface="Calibri" pitchFamily="34" charset="-120"/>
              </a:rPr>
              <a:t>Gender</a:t>
            </a:r>
            <a:endParaRPr lang="en-US" sz="1100" dirty="0"/>
          </a:p>
        </p:txBody>
      </p:sp>
      <p:sp>
        <p:nvSpPr>
          <p:cNvPr id="32" name="Shape 22"/>
          <p:cNvSpPr/>
          <p:nvPr/>
        </p:nvSpPr>
        <p:spPr>
          <a:xfrm>
            <a:off x="1783080" y="5349240"/>
            <a:ext cx="1417320" cy="457200"/>
          </a:xfrm>
          <a:prstGeom prst="roundRect">
            <a:avLst>
              <a:gd name="adj" fmla="val 50000"/>
            </a:avLst>
          </a:prstGeom>
          <a:solidFill>
            <a:srgbClr val="EAF6F5"/>
          </a:solidFill>
          <a:ln w="12700">
            <a:solidFill>
              <a:srgbClr val="028090"/>
            </a:solidFill>
            <a:prstDash val="solid"/>
          </a:ln>
        </p:spPr>
      </p:sp>
      <p:sp>
        <p:nvSpPr>
          <p:cNvPr id="33" name="Text 23"/>
          <p:cNvSpPr/>
          <p:nvPr/>
        </p:nvSpPr>
        <p:spPr>
          <a:xfrm>
            <a:off x="1783080" y="5349240"/>
            <a:ext cx="1417320" cy="457200"/>
          </a:xfrm>
          <a:prstGeom prst="rect">
            <a:avLst/>
          </a:prstGeom>
          <a:noFill/>
          <a:ln/>
        </p:spPr>
        <p:txBody>
          <a:bodyPr wrap="square" lIns="0" tIns="0" rIns="0" bIns="0" rtlCol="0" anchor="ctr"/>
          <a:lstStyle/>
          <a:p>
            <a:pPr algn="ctr" indent="0" marL="0">
              <a:buNone/>
            </a:pPr>
            <a:r>
              <a:rPr lang="en-US" sz="1100" dirty="0">
                <a:solidFill>
                  <a:srgbClr val="0B2545"/>
                </a:solidFill>
                <a:latin typeface="Calibri" pitchFamily="34" charset="0"/>
                <a:ea typeface="Calibri" pitchFamily="34" charset="-122"/>
                <a:cs typeface="Calibri" pitchFamily="34" charset="-120"/>
              </a:rPr>
              <a:t>Blood Type</a:t>
            </a:r>
            <a:endParaRPr lang="en-US" sz="1100" dirty="0"/>
          </a:p>
        </p:txBody>
      </p:sp>
      <p:sp>
        <p:nvSpPr>
          <p:cNvPr id="34" name="Shape 24"/>
          <p:cNvSpPr/>
          <p:nvPr/>
        </p:nvSpPr>
        <p:spPr>
          <a:xfrm>
            <a:off x="3383280" y="5349240"/>
            <a:ext cx="1783080" cy="457200"/>
          </a:xfrm>
          <a:prstGeom prst="roundRect">
            <a:avLst>
              <a:gd name="adj" fmla="val 50000"/>
            </a:avLst>
          </a:prstGeom>
          <a:solidFill>
            <a:srgbClr val="EAF6F5"/>
          </a:solidFill>
          <a:ln w="12700">
            <a:solidFill>
              <a:srgbClr val="028090"/>
            </a:solidFill>
            <a:prstDash val="solid"/>
          </a:ln>
        </p:spPr>
      </p:sp>
      <p:sp>
        <p:nvSpPr>
          <p:cNvPr id="35" name="Text 25"/>
          <p:cNvSpPr/>
          <p:nvPr/>
        </p:nvSpPr>
        <p:spPr>
          <a:xfrm>
            <a:off x="3383280" y="5349240"/>
            <a:ext cx="1783080" cy="457200"/>
          </a:xfrm>
          <a:prstGeom prst="rect">
            <a:avLst/>
          </a:prstGeom>
          <a:noFill/>
          <a:ln/>
        </p:spPr>
        <p:txBody>
          <a:bodyPr wrap="square" lIns="0" tIns="0" rIns="0" bIns="0" rtlCol="0" anchor="ctr"/>
          <a:lstStyle/>
          <a:p>
            <a:pPr algn="ctr" indent="0" marL="0">
              <a:buNone/>
            </a:pPr>
            <a:r>
              <a:rPr lang="en-US" sz="1100" dirty="0">
                <a:solidFill>
                  <a:srgbClr val="0B2545"/>
                </a:solidFill>
                <a:latin typeface="Calibri" pitchFamily="34" charset="0"/>
                <a:ea typeface="Calibri" pitchFamily="34" charset="-122"/>
                <a:cs typeface="Calibri" pitchFamily="34" charset="-120"/>
              </a:rPr>
              <a:t>Admission Type</a:t>
            </a:r>
            <a:endParaRPr lang="en-US" sz="1100" dirty="0"/>
          </a:p>
        </p:txBody>
      </p:sp>
      <p:sp>
        <p:nvSpPr>
          <p:cNvPr id="36" name="Shape 26"/>
          <p:cNvSpPr/>
          <p:nvPr/>
        </p:nvSpPr>
        <p:spPr>
          <a:xfrm>
            <a:off x="5349240" y="5349240"/>
            <a:ext cx="2057400" cy="457200"/>
          </a:xfrm>
          <a:prstGeom prst="roundRect">
            <a:avLst>
              <a:gd name="adj" fmla="val 50000"/>
            </a:avLst>
          </a:prstGeom>
          <a:solidFill>
            <a:srgbClr val="EAF6F5"/>
          </a:solidFill>
          <a:ln w="12700">
            <a:solidFill>
              <a:srgbClr val="028090"/>
            </a:solidFill>
            <a:prstDash val="solid"/>
          </a:ln>
        </p:spPr>
      </p:sp>
      <p:sp>
        <p:nvSpPr>
          <p:cNvPr id="37" name="Text 27"/>
          <p:cNvSpPr/>
          <p:nvPr/>
        </p:nvSpPr>
        <p:spPr>
          <a:xfrm>
            <a:off x="5349240" y="5349240"/>
            <a:ext cx="2057400" cy="457200"/>
          </a:xfrm>
          <a:prstGeom prst="rect">
            <a:avLst/>
          </a:prstGeom>
          <a:noFill/>
          <a:ln/>
        </p:spPr>
        <p:txBody>
          <a:bodyPr wrap="square" lIns="0" tIns="0" rIns="0" bIns="0" rtlCol="0" anchor="ctr"/>
          <a:lstStyle/>
          <a:p>
            <a:pPr algn="ctr" indent="0" marL="0">
              <a:buNone/>
            </a:pPr>
            <a:r>
              <a:rPr lang="en-US" sz="1100" dirty="0">
                <a:solidFill>
                  <a:srgbClr val="0B2545"/>
                </a:solidFill>
                <a:latin typeface="Calibri" pitchFamily="34" charset="0"/>
                <a:ea typeface="Calibri" pitchFamily="34" charset="-122"/>
                <a:cs typeface="Calibri" pitchFamily="34" charset="-120"/>
              </a:rPr>
              <a:t>Medical Condition</a:t>
            </a:r>
            <a:endParaRPr lang="en-US" sz="1100" dirty="0"/>
          </a:p>
        </p:txBody>
      </p:sp>
      <p:sp>
        <p:nvSpPr>
          <p:cNvPr id="38" name="Shape 28"/>
          <p:cNvSpPr/>
          <p:nvPr/>
        </p:nvSpPr>
        <p:spPr>
          <a:xfrm>
            <a:off x="7589520" y="5349240"/>
            <a:ext cx="2148840" cy="457200"/>
          </a:xfrm>
          <a:prstGeom prst="roundRect">
            <a:avLst>
              <a:gd name="adj" fmla="val 50000"/>
            </a:avLst>
          </a:prstGeom>
          <a:solidFill>
            <a:srgbClr val="EAF6F5"/>
          </a:solidFill>
          <a:ln w="12700">
            <a:solidFill>
              <a:srgbClr val="028090"/>
            </a:solidFill>
            <a:prstDash val="solid"/>
          </a:ln>
        </p:spPr>
      </p:sp>
      <p:sp>
        <p:nvSpPr>
          <p:cNvPr id="39" name="Text 29"/>
          <p:cNvSpPr/>
          <p:nvPr/>
        </p:nvSpPr>
        <p:spPr>
          <a:xfrm>
            <a:off x="7589520" y="5349240"/>
            <a:ext cx="2148840" cy="457200"/>
          </a:xfrm>
          <a:prstGeom prst="rect">
            <a:avLst/>
          </a:prstGeom>
          <a:noFill/>
          <a:ln/>
        </p:spPr>
        <p:txBody>
          <a:bodyPr wrap="square" lIns="0" tIns="0" rIns="0" bIns="0" rtlCol="0" anchor="ctr"/>
          <a:lstStyle/>
          <a:p>
            <a:pPr algn="ctr" indent="0" marL="0">
              <a:buNone/>
            </a:pPr>
            <a:r>
              <a:rPr lang="en-US" sz="1100" dirty="0">
                <a:solidFill>
                  <a:srgbClr val="0B2545"/>
                </a:solidFill>
                <a:latin typeface="Calibri" pitchFamily="34" charset="0"/>
                <a:ea typeface="Calibri" pitchFamily="34" charset="-122"/>
                <a:cs typeface="Calibri" pitchFamily="34" charset="-120"/>
              </a:rPr>
              <a:t>Insurance Provider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A"/>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Methodology</a:t>
            </a:r>
            <a:endParaRPr lang="en-US" sz="30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51606B"/>
                </a:solidFill>
                <a:latin typeface="Calibri" pitchFamily="34" charset="0"/>
                <a:ea typeface="Calibri" pitchFamily="34" charset="-122"/>
                <a:cs typeface="Calibri" pitchFamily="34" charset="-120"/>
              </a:rPr>
              <a:t>End-to-end workflow from raw data to insight</a:t>
            </a:r>
            <a:endParaRPr lang="en-US" sz="1400" dirty="0"/>
          </a:p>
        </p:txBody>
      </p:sp>
      <p:sp>
        <p:nvSpPr>
          <p:cNvPr id="4" name="Shape 2"/>
          <p:cNvSpPr/>
          <p:nvPr/>
        </p:nvSpPr>
        <p:spPr>
          <a:xfrm>
            <a:off x="1727563" y="2834640"/>
            <a:ext cx="693638" cy="0"/>
          </a:xfrm>
          <a:prstGeom prst="line">
            <a:avLst/>
          </a:prstGeom>
          <a:noFill/>
          <a:ln w="25400">
            <a:solidFill>
              <a:srgbClr val="C7D8D6"/>
            </a:solidFill>
            <a:prstDash val="dash"/>
          </a:ln>
        </p:spPr>
      </p:sp>
      <p:sp>
        <p:nvSpPr>
          <p:cNvPr id="5" name="Shape 3"/>
          <p:cNvSpPr/>
          <p:nvPr/>
        </p:nvSpPr>
        <p:spPr>
          <a:xfrm>
            <a:off x="813163" y="2377440"/>
            <a:ext cx="914400" cy="91440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069195" y="2633472"/>
            <a:ext cx="402336" cy="402336"/>
          </a:xfrm>
          <a:prstGeom prst="rect">
            <a:avLst/>
          </a:prstGeom>
        </p:spPr>
      </p:pic>
      <p:sp>
        <p:nvSpPr>
          <p:cNvPr id="7" name="Shape 4"/>
          <p:cNvSpPr/>
          <p:nvPr/>
        </p:nvSpPr>
        <p:spPr>
          <a:xfrm>
            <a:off x="1105771" y="2212848"/>
            <a:ext cx="329184" cy="329184"/>
          </a:xfrm>
          <a:prstGeom prst="ellipse">
            <a:avLst/>
          </a:prstGeom>
          <a:solidFill>
            <a:srgbClr val="0B2545"/>
          </a:solidFill>
          <a:ln/>
        </p:spPr>
      </p:sp>
      <p:sp>
        <p:nvSpPr>
          <p:cNvPr id="8" name="Text 5"/>
          <p:cNvSpPr/>
          <p:nvPr/>
        </p:nvSpPr>
        <p:spPr>
          <a:xfrm>
            <a:off x="1105771" y="22128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6"/>
          <p:cNvSpPr/>
          <p:nvPr/>
        </p:nvSpPr>
        <p:spPr>
          <a:xfrm>
            <a:off x="548640" y="3520440"/>
            <a:ext cx="1443446" cy="685800"/>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Data Collection</a:t>
            </a:r>
            <a:endParaRPr lang="en-US" sz="1150" dirty="0"/>
          </a:p>
        </p:txBody>
      </p:sp>
      <p:sp>
        <p:nvSpPr>
          <p:cNvPr id="10" name="Shape 7"/>
          <p:cNvSpPr/>
          <p:nvPr/>
        </p:nvSpPr>
        <p:spPr>
          <a:xfrm>
            <a:off x="3335601" y="2834640"/>
            <a:ext cx="693638" cy="0"/>
          </a:xfrm>
          <a:prstGeom prst="line">
            <a:avLst/>
          </a:prstGeom>
          <a:noFill/>
          <a:ln w="25400">
            <a:solidFill>
              <a:srgbClr val="C7D8D6"/>
            </a:solidFill>
            <a:prstDash val="dash"/>
          </a:ln>
        </p:spPr>
      </p:sp>
      <p:sp>
        <p:nvSpPr>
          <p:cNvPr id="11" name="Shape 8"/>
          <p:cNvSpPr/>
          <p:nvPr/>
        </p:nvSpPr>
        <p:spPr>
          <a:xfrm>
            <a:off x="2421201" y="2377440"/>
            <a:ext cx="914400" cy="914400"/>
          </a:xfrm>
          <a:prstGeom prst="ellipse">
            <a:avLst/>
          </a:prstGeom>
          <a:solidFill>
            <a:srgbClr val="00A896"/>
          </a:solidFill>
          <a:ln/>
        </p:spPr>
      </p:sp>
      <p:pic>
        <p:nvPicPr>
          <p:cNvPr id="12" name="Image 1" descr="preencoded.png">    </p:cNvPr>
          <p:cNvPicPr>
            <a:picLocks noChangeAspect="1"/>
          </p:cNvPicPr>
          <p:nvPr/>
        </p:nvPicPr>
        <p:blipFill>
          <a:blip r:embed="rId2"/>
          <a:stretch>
            <a:fillRect/>
          </a:stretch>
        </p:blipFill>
        <p:spPr>
          <a:xfrm>
            <a:off x="2677233" y="2633472"/>
            <a:ext cx="402336" cy="402336"/>
          </a:xfrm>
          <a:prstGeom prst="rect">
            <a:avLst/>
          </a:prstGeom>
        </p:spPr>
      </p:pic>
      <p:sp>
        <p:nvSpPr>
          <p:cNvPr id="13" name="Shape 9"/>
          <p:cNvSpPr/>
          <p:nvPr/>
        </p:nvSpPr>
        <p:spPr>
          <a:xfrm>
            <a:off x="2713809" y="2212848"/>
            <a:ext cx="329184" cy="329184"/>
          </a:xfrm>
          <a:prstGeom prst="ellipse">
            <a:avLst/>
          </a:prstGeom>
          <a:solidFill>
            <a:srgbClr val="0B2545"/>
          </a:solidFill>
          <a:ln/>
        </p:spPr>
      </p:sp>
      <p:sp>
        <p:nvSpPr>
          <p:cNvPr id="14" name="Text 10"/>
          <p:cNvSpPr/>
          <p:nvPr/>
        </p:nvSpPr>
        <p:spPr>
          <a:xfrm>
            <a:off x="2713809" y="22128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1"/>
          <p:cNvSpPr/>
          <p:nvPr/>
        </p:nvSpPr>
        <p:spPr>
          <a:xfrm>
            <a:off x="2156678" y="3520440"/>
            <a:ext cx="1443446" cy="685800"/>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Data Cleaning</a:t>
            </a:r>
            <a:endParaRPr lang="en-US" sz="1150" dirty="0"/>
          </a:p>
        </p:txBody>
      </p:sp>
      <p:sp>
        <p:nvSpPr>
          <p:cNvPr id="16" name="Shape 12"/>
          <p:cNvSpPr/>
          <p:nvPr/>
        </p:nvSpPr>
        <p:spPr>
          <a:xfrm>
            <a:off x="4943638" y="2834640"/>
            <a:ext cx="693638" cy="0"/>
          </a:xfrm>
          <a:prstGeom prst="line">
            <a:avLst/>
          </a:prstGeom>
          <a:noFill/>
          <a:ln w="25400">
            <a:solidFill>
              <a:srgbClr val="C7D8D6"/>
            </a:solidFill>
            <a:prstDash val="dash"/>
          </a:ln>
        </p:spPr>
      </p:sp>
      <p:sp>
        <p:nvSpPr>
          <p:cNvPr id="17" name="Shape 13"/>
          <p:cNvSpPr/>
          <p:nvPr/>
        </p:nvSpPr>
        <p:spPr>
          <a:xfrm>
            <a:off x="4029238" y="2377440"/>
            <a:ext cx="914400" cy="914400"/>
          </a:xfrm>
          <a:prstGeom prst="ellipse">
            <a:avLst/>
          </a:prstGeom>
          <a:solidFill>
            <a:srgbClr val="028090"/>
          </a:solidFill>
          <a:ln/>
        </p:spPr>
      </p:sp>
      <p:pic>
        <p:nvPicPr>
          <p:cNvPr id="18" name="Image 2" descr="preencoded.png">    </p:cNvPr>
          <p:cNvPicPr>
            <a:picLocks noChangeAspect="1"/>
          </p:cNvPicPr>
          <p:nvPr/>
        </p:nvPicPr>
        <p:blipFill>
          <a:blip r:embed="rId3"/>
          <a:stretch>
            <a:fillRect/>
          </a:stretch>
        </p:blipFill>
        <p:spPr>
          <a:xfrm>
            <a:off x="4285270" y="2633472"/>
            <a:ext cx="402336" cy="402336"/>
          </a:xfrm>
          <a:prstGeom prst="rect">
            <a:avLst/>
          </a:prstGeom>
        </p:spPr>
      </p:pic>
      <p:sp>
        <p:nvSpPr>
          <p:cNvPr id="19" name="Shape 14"/>
          <p:cNvSpPr/>
          <p:nvPr/>
        </p:nvSpPr>
        <p:spPr>
          <a:xfrm>
            <a:off x="4321846" y="2212848"/>
            <a:ext cx="329184" cy="329184"/>
          </a:xfrm>
          <a:prstGeom prst="ellipse">
            <a:avLst/>
          </a:prstGeom>
          <a:solidFill>
            <a:srgbClr val="0B2545"/>
          </a:solidFill>
          <a:ln/>
        </p:spPr>
      </p:sp>
      <p:sp>
        <p:nvSpPr>
          <p:cNvPr id="20" name="Text 15"/>
          <p:cNvSpPr/>
          <p:nvPr/>
        </p:nvSpPr>
        <p:spPr>
          <a:xfrm>
            <a:off x="4321846" y="22128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1" name="Text 16"/>
          <p:cNvSpPr/>
          <p:nvPr/>
        </p:nvSpPr>
        <p:spPr>
          <a:xfrm>
            <a:off x="3764715" y="3520440"/>
            <a:ext cx="1443446" cy="685800"/>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Data Transformation</a:t>
            </a:r>
            <a:endParaRPr lang="en-US" sz="1150" dirty="0"/>
          </a:p>
        </p:txBody>
      </p:sp>
      <p:sp>
        <p:nvSpPr>
          <p:cNvPr id="22" name="Shape 17"/>
          <p:cNvSpPr/>
          <p:nvPr/>
        </p:nvSpPr>
        <p:spPr>
          <a:xfrm>
            <a:off x="6551676" y="2834640"/>
            <a:ext cx="693638" cy="0"/>
          </a:xfrm>
          <a:prstGeom prst="line">
            <a:avLst/>
          </a:prstGeom>
          <a:noFill/>
          <a:ln w="25400">
            <a:solidFill>
              <a:srgbClr val="C7D8D6"/>
            </a:solidFill>
            <a:prstDash val="dash"/>
          </a:ln>
        </p:spPr>
      </p:sp>
      <p:sp>
        <p:nvSpPr>
          <p:cNvPr id="23" name="Shape 18"/>
          <p:cNvSpPr/>
          <p:nvPr/>
        </p:nvSpPr>
        <p:spPr>
          <a:xfrm>
            <a:off x="5637276" y="2377440"/>
            <a:ext cx="914400" cy="914400"/>
          </a:xfrm>
          <a:prstGeom prst="ellipse">
            <a:avLst/>
          </a:prstGeom>
          <a:solidFill>
            <a:srgbClr val="00A896"/>
          </a:solidFill>
          <a:ln/>
        </p:spPr>
      </p:sp>
      <p:pic>
        <p:nvPicPr>
          <p:cNvPr id="24" name="Image 3" descr="preencoded.png">    </p:cNvPr>
          <p:cNvPicPr>
            <a:picLocks noChangeAspect="1"/>
          </p:cNvPicPr>
          <p:nvPr/>
        </p:nvPicPr>
        <p:blipFill>
          <a:blip r:embed="rId4"/>
          <a:stretch>
            <a:fillRect/>
          </a:stretch>
        </p:blipFill>
        <p:spPr>
          <a:xfrm>
            <a:off x="5893308" y="2633472"/>
            <a:ext cx="402336" cy="402336"/>
          </a:xfrm>
          <a:prstGeom prst="rect">
            <a:avLst/>
          </a:prstGeom>
        </p:spPr>
      </p:pic>
      <p:sp>
        <p:nvSpPr>
          <p:cNvPr id="25" name="Shape 19"/>
          <p:cNvSpPr/>
          <p:nvPr/>
        </p:nvSpPr>
        <p:spPr>
          <a:xfrm>
            <a:off x="5929884" y="2212848"/>
            <a:ext cx="329184" cy="329184"/>
          </a:xfrm>
          <a:prstGeom prst="ellipse">
            <a:avLst/>
          </a:prstGeom>
          <a:solidFill>
            <a:srgbClr val="0B2545"/>
          </a:solidFill>
          <a:ln/>
        </p:spPr>
      </p:sp>
      <p:sp>
        <p:nvSpPr>
          <p:cNvPr id="26" name="Text 20"/>
          <p:cNvSpPr/>
          <p:nvPr/>
        </p:nvSpPr>
        <p:spPr>
          <a:xfrm>
            <a:off x="5929884" y="22128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7" name="Text 21"/>
          <p:cNvSpPr/>
          <p:nvPr/>
        </p:nvSpPr>
        <p:spPr>
          <a:xfrm>
            <a:off x="5372753" y="3520440"/>
            <a:ext cx="1443446" cy="685800"/>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Data Modeling</a:t>
            </a:r>
            <a:endParaRPr lang="en-US" sz="1150" dirty="0"/>
          </a:p>
        </p:txBody>
      </p:sp>
      <p:sp>
        <p:nvSpPr>
          <p:cNvPr id="28" name="Shape 22"/>
          <p:cNvSpPr/>
          <p:nvPr/>
        </p:nvSpPr>
        <p:spPr>
          <a:xfrm>
            <a:off x="8159714" y="2834640"/>
            <a:ext cx="693638" cy="0"/>
          </a:xfrm>
          <a:prstGeom prst="line">
            <a:avLst/>
          </a:prstGeom>
          <a:noFill/>
          <a:ln w="25400">
            <a:solidFill>
              <a:srgbClr val="C7D8D6"/>
            </a:solidFill>
            <a:prstDash val="dash"/>
          </a:ln>
        </p:spPr>
      </p:sp>
      <p:sp>
        <p:nvSpPr>
          <p:cNvPr id="29" name="Shape 23"/>
          <p:cNvSpPr/>
          <p:nvPr/>
        </p:nvSpPr>
        <p:spPr>
          <a:xfrm>
            <a:off x="7245314" y="2377440"/>
            <a:ext cx="914400" cy="914400"/>
          </a:xfrm>
          <a:prstGeom prst="ellipse">
            <a:avLst/>
          </a:prstGeom>
          <a:solidFill>
            <a:srgbClr val="028090"/>
          </a:solidFill>
          <a:ln/>
        </p:spPr>
      </p:sp>
      <p:pic>
        <p:nvPicPr>
          <p:cNvPr id="30" name="Image 4" descr="preencoded.png">    </p:cNvPr>
          <p:cNvPicPr>
            <a:picLocks noChangeAspect="1"/>
          </p:cNvPicPr>
          <p:nvPr/>
        </p:nvPicPr>
        <p:blipFill>
          <a:blip r:embed="rId5"/>
          <a:stretch>
            <a:fillRect/>
          </a:stretch>
        </p:blipFill>
        <p:spPr>
          <a:xfrm>
            <a:off x="7501346" y="2633472"/>
            <a:ext cx="402336" cy="402336"/>
          </a:xfrm>
          <a:prstGeom prst="rect">
            <a:avLst/>
          </a:prstGeom>
        </p:spPr>
      </p:pic>
      <p:sp>
        <p:nvSpPr>
          <p:cNvPr id="31" name="Shape 24"/>
          <p:cNvSpPr/>
          <p:nvPr/>
        </p:nvSpPr>
        <p:spPr>
          <a:xfrm>
            <a:off x="7537922" y="2212848"/>
            <a:ext cx="329184" cy="329184"/>
          </a:xfrm>
          <a:prstGeom prst="ellipse">
            <a:avLst/>
          </a:prstGeom>
          <a:solidFill>
            <a:srgbClr val="0B2545"/>
          </a:solidFill>
          <a:ln/>
        </p:spPr>
      </p:sp>
      <p:sp>
        <p:nvSpPr>
          <p:cNvPr id="32" name="Text 25"/>
          <p:cNvSpPr/>
          <p:nvPr/>
        </p:nvSpPr>
        <p:spPr>
          <a:xfrm>
            <a:off x="7537922" y="22128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3" name="Text 26"/>
          <p:cNvSpPr/>
          <p:nvPr/>
        </p:nvSpPr>
        <p:spPr>
          <a:xfrm>
            <a:off x="6980791" y="3520440"/>
            <a:ext cx="1443446" cy="685800"/>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Dashboard Design</a:t>
            </a:r>
            <a:endParaRPr lang="en-US" sz="1150" dirty="0"/>
          </a:p>
        </p:txBody>
      </p:sp>
      <p:sp>
        <p:nvSpPr>
          <p:cNvPr id="34" name="Shape 27"/>
          <p:cNvSpPr/>
          <p:nvPr/>
        </p:nvSpPr>
        <p:spPr>
          <a:xfrm>
            <a:off x="9767751" y="2834640"/>
            <a:ext cx="693638" cy="0"/>
          </a:xfrm>
          <a:prstGeom prst="line">
            <a:avLst/>
          </a:prstGeom>
          <a:noFill/>
          <a:ln w="25400">
            <a:solidFill>
              <a:srgbClr val="C7D8D6"/>
            </a:solidFill>
            <a:prstDash val="dash"/>
          </a:ln>
        </p:spPr>
      </p:sp>
      <p:sp>
        <p:nvSpPr>
          <p:cNvPr id="35" name="Shape 28"/>
          <p:cNvSpPr/>
          <p:nvPr/>
        </p:nvSpPr>
        <p:spPr>
          <a:xfrm>
            <a:off x="8853351" y="2377440"/>
            <a:ext cx="914400" cy="914400"/>
          </a:xfrm>
          <a:prstGeom prst="ellipse">
            <a:avLst/>
          </a:prstGeom>
          <a:solidFill>
            <a:srgbClr val="00A896"/>
          </a:solidFill>
          <a:ln/>
        </p:spPr>
      </p:sp>
      <p:pic>
        <p:nvPicPr>
          <p:cNvPr id="36" name="Image 5" descr="preencoded.png">    </p:cNvPr>
          <p:cNvPicPr>
            <a:picLocks noChangeAspect="1"/>
          </p:cNvPicPr>
          <p:nvPr/>
        </p:nvPicPr>
        <p:blipFill>
          <a:blip r:embed="rId6"/>
          <a:stretch>
            <a:fillRect/>
          </a:stretch>
        </p:blipFill>
        <p:spPr>
          <a:xfrm>
            <a:off x="9109383" y="2633472"/>
            <a:ext cx="402336" cy="402336"/>
          </a:xfrm>
          <a:prstGeom prst="rect">
            <a:avLst/>
          </a:prstGeom>
        </p:spPr>
      </p:pic>
      <p:sp>
        <p:nvSpPr>
          <p:cNvPr id="37" name="Shape 29"/>
          <p:cNvSpPr/>
          <p:nvPr/>
        </p:nvSpPr>
        <p:spPr>
          <a:xfrm>
            <a:off x="9145959" y="2212848"/>
            <a:ext cx="329184" cy="329184"/>
          </a:xfrm>
          <a:prstGeom prst="ellipse">
            <a:avLst/>
          </a:prstGeom>
          <a:solidFill>
            <a:srgbClr val="0B2545"/>
          </a:solidFill>
          <a:ln/>
        </p:spPr>
      </p:sp>
      <p:sp>
        <p:nvSpPr>
          <p:cNvPr id="38" name="Text 30"/>
          <p:cNvSpPr/>
          <p:nvPr/>
        </p:nvSpPr>
        <p:spPr>
          <a:xfrm>
            <a:off x="9145959" y="22128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9" name="Text 31"/>
          <p:cNvSpPr/>
          <p:nvPr/>
        </p:nvSpPr>
        <p:spPr>
          <a:xfrm>
            <a:off x="8588829" y="3520440"/>
            <a:ext cx="1443446" cy="685800"/>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Data Visualization</a:t>
            </a:r>
            <a:endParaRPr lang="en-US" sz="1150" dirty="0"/>
          </a:p>
        </p:txBody>
      </p:sp>
      <p:sp>
        <p:nvSpPr>
          <p:cNvPr id="40" name="Shape 32"/>
          <p:cNvSpPr/>
          <p:nvPr/>
        </p:nvSpPr>
        <p:spPr>
          <a:xfrm>
            <a:off x="10461389" y="2377440"/>
            <a:ext cx="914400" cy="914400"/>
          </a:xfrm>
          <a:prstGeom prst="ellipse">
            <a:avLst/>
          </a:prstGeom>
          <a:solidFill>
            <a:srgbClr val="028090"/>
          </a:solidFill>
          <a:ln/>
        </p:spPr>
      </p:sp>
      <p:pic>
        <p:nvPicPr>
          <p:cNvPr id="41" name="Image 6" descr="preencoded.png">    </p:cNvPr>
          <p:cNvPicPr>
            <a:picLocks noChangeAspect="1"/>
          </p:cNvPicPr>
          <p:nvPr/>
        </p:nvPicPr>
        <p:blipFill>
          <a:blip r:embed="rId7"/>
          <a:stretch>
            <a:fillRect/>
          </a:stretch>
        </p:blipFill>
        <p:spPr>
          <a:xfrm>
            <a:off x="10717421" y="2633472"/>
            <a:ext cx="402336" cy="402336"/>
          </a:xfrm>
          <a:prstGeom prst="rect">
            <a:avLst/>
          </a:prstGeom>
        </p:spPr>
      </p:pic>
      <p:sp>
        <p:nvSpPr>
          <p:cNvPr id="42" name="Shape 33"/>
          <p:cNvSpPr/>
          <p:nvPr/>
        </p:nvSpPr>
        <p:spPr>
          <a:xfrm>
            <a:off x="10753997" y="2212848"/>
            <a:ext cx="329184" cy="329184"/>
          </a:xfrm>
          <a:prstGeom prst="ellipse">
            <a:avLst/>
          </a:prstGeom>
          <a:solidFill>
            <a:srgbClr val="0B2545"/>
          </a:solidFill>
          <a:ln/>
        </p:spPr>
      </p:sp>
      <p:sp>
        <p:nvSpPr>
          <p:cNvPr id="43" name="Text 34"/>
          <p:cNvSpPr/>
          <p:nvPr/>
        </p:nvSpPr>
        <p:spPr>
          <a:xfrm>
            <a:off x="10753997" y="22128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44" name="Text 35"/>
          <p:cNvSpPr/>
          <p:nvPr/>
        </p:nvSpPr>
        <p:spPr>
          <a:xfrm>
            <a:off x="10196866" y="3520440"/>
            <a:ext cx="1443446" cy="685800"/>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Insight Generation</a:t>
            </a:r>
            <a:endParaRPr lang="en-US" sz="1150" dirty="0"/>
          </a:p>
        </p:txBody>
      </p:sp>
      <p:sp>
        <p:nvSpPr>
          <p:cNvPr id="45" name="Shape 36"/>
          <p:cNvSpPr/>
          <p:nvPr/>
        </p:nvSpPr>
        <p:spPr>
          <a:xfrm>
            <a:off x="548640" y="4572000"/>
            <a:ext cx="11091672" cy="1463040"/>
          </a:xfrm>
          <a:prstGeom prst="roundRect">
            <a:avLst>
              <a:gd name="adj" fmla="val 6250"/>
            </a:avLst>
          </a:prstGeom>
          <a:solidFill>
            <a:srgbClr val="FFFFFF"/>
          </a:solidFill>
          <a:ln/>
          <a:effectLst>
            <a:outerShdw sx="100000" sy="100000" kx="0" ky="0" algn="bl" rotWithShape="0" blurRad="76200" dist="25400" dir="2700000">
              <a:srgbClr val="000000">
                <a:alpha val="10000"/>
              </a:srgbClr>
            </a:outerShdw>
          </a:effectLst>
        </p:spPr>
      </p:sp>
      <p:sp>
        <p:nvSpPr>
          <p:cNvPr id="46" name="Text 37"/>
          <p:cNvSpPr/>
          <p:nvPr/>
        </p:nvSpPr>
        <p:spPr>
          <a:xfrm>
            <a:off x="868680" y="4800600"/>
            <a:ext cx="10424160" cy="1005840"/>
          </a:xfrm>
          <a:prstGeom prst="rect">
            <a:avLst/>
          </a:prstGeom>
          <a:noFill/>
          <a:ln/>
        </p:spPr>
        <p:txBody>
          <a:bodyPr wrap="square" lIns="0" tIns="0" rIns="0" bIns="0" rtlCol="0" anchor="ctr"/>
          <a:lstStyle/>
          <a:p>
            <a:pPr indent="0" marL="0">
              <a:lnSpc>
                <a:spcPct val="125000"/>
              </a:lnSpc>
              <a:buNone/>
            </a:pPr>
            <a:r>
              <a:rPr lang="en-US" sz="1300" dirty="0">
                <a:solidFill>
                  <a:srgbClr val="33414A"/>
                </a:solidFill>
                <a:latin typeface="Calibri" pitchFamily="34" charset="0"/>
                <a:ea typeface="Calibri" pitchFamily="34" charset="-122"/>
                <a:cs typeface="Calibri" pitchFamily="34" charset="-120"/>
              </a:rPr>
              <a:t>Raw healthcare records are collected, cleaned, and transformed in Power Query, then modeled with DAX measures before being visualized in an interactive Power BI dashboard — turning operational data into decision-ready insight.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Insights</a:t>
            </a:r>
            <a:endParaRPr lang="en-US" sz="3000" dirty="0"/>
          </a:p>
        </p:txBody>
      </p:sp>
      <p:sp>
        <p:nvSpPr>
          <p:cNvPr id="3" name="Text 1"/>
          <p:cNvSpPr/>
          <p:nvPr/>
        </p:nvSpPr>
        <p:spPr>
          <a:xfrm>
            <a:off x="548640" y="914400"/>
            <a:ext cx="9144000" cy="365760"/>
          </a:xfrm>
          <a:prstGeom prst="rect">
            <a:avLst/>
          </a:prstGeom>
          <a:noFill/>
          <a:ln/>
        </p:spPr>
        <p:txBody>
          <a:bodyPr wrap="square" lIns="0" tIns="0" rIns="0" bIns="0" rtlCol="0" anchor="ctr"/>
          <a:lstStyle/>
          <a:p>
            <a:pPr indent="0" marL="0">
              <a:buNone/>
            </a:pPr>
            <a:r>
              <a:rPr lang="en-US" sz="1400" i="1" dirty="0">
                <a:solidFill>
                  <a:srgbClr val="9FB4BE"/>
                </a:solidFill>
                <a:latin typeface="Calibri" pitchFamily="34" charset="0"/>
                <a:ea typeface="Calibri" pitchFamily="34" charset="-122"/>
                <a:cs typeface="Calibri" pitchFamily="34" charset="-120"/>
              </a:rPr>
              <a:t>What the dashboard reveals about patient and billing patterns</a:t>
            </a:r>
            <a:endParaRPr lang="en-US" sz="1400" dirty="0"/>
          </a:p>
        </p:txBody>
      </p:sp>
      <p:sp>
        <p:nvSpPr>
          <p:cNvPr id="4" name="Shape 2"/>
          <p:cNvSpPr/>
          <p:nvPr/>
        </p:nvSpPr>
        <p:spPr>
          <a:xfrm>
            <a:off x="548640" y="1554480"/>
            <a:ext cx="3514344" cy="1828800"/>
          </a:xfrm>
          <a:prstGeom prst="roundRect">
            <a:avLst>
              <a:gd name="adj" fmla="val 5000"/>
            </a:avLst>
          </a:prstGeom>
          <a:solidFill>
            <a:srgbClr val="12365A"/>
          </a:solidFill>
          <a:ln/>
        </p:spPr>
      </p:sp>
      <p:sp>
        <p:nvSpPr>
          <p:cNvPr id="5" name="Text 3"/>
          <p:cNvSpPr/>
          <p:nvPr/>
        </p:nvSpPr>
        <p:spPr>
          <a:xfrm>
            <a:off x="731520" y="1783080"/>
            <a:ext cx="3148584" cy="822960"/>
          </a:xfrm>
          <a:prstGeom prst="rect">
            <a:avLst/>
          </a:prstGeom>
          <a:noFill/>
          <a:ln/>
        </p:spPr>
        <p:txBody>
          <a:bodyPr wrap="square" lIns="0" tIns="0" rIns="0" bIns="0" rtlCol="0" anchor="ctr"/>
          <a:lstStyle/>
          <a:p>
            <a:pPr algn="ctr" indent="0" marL="0">
              <a:buNone/>
            </a:pPr>
            <a:r>
              <a:rPr lang="en-US" sz="4000" b="1" dirty="0">
                <a:solidFill>
                  <a:srgbClr val="02C39A"/>
                </a:solidFill>
                <a:latin typeface="Cambria" pitchFamily="34" charset="0"/>
                <a:ea typeface="Cambria" pitchFamily="34" charset="-122"/>
                <a:cs typeface="Cambria" pitchFamily="34" charset="-120"/>
              </a:rPr>
              <a:t>55,000+</a:t>
            </a:r>
            <a:endParaRPr lang="en-US" sz="4000" dirty="0"/>
          </a:p>
        </p:txBody>
      </p:sp>
      <p:sp>
        <p:nvSpPr>
          <p:cNvPr id="6" name="Text 4"/>
          <p:cNvSpPr/>
          <p:nvPr/>
        </p:nvSpPr>
        <p:spPr>
          <a:xfrm>
            <a:off x="731520" y="2651760"/>
            <a:ext cx="3148584" cy="640080"/>
          </a:xfrm>
          <a:prstGeom prst="rect">
            <a:avLst/>
          </a:prstGeom>
          <a:noFill/>
          <a:ln/>
        </p:spPr>
        <p:txBody>
          <a:bodyPr wrap="square" lIns="0" tIns="0" rIns="0" bIns="0" rtlCol="0" anchor="ctr"/>
          <a:lstStyle/>
          <a:p>
            <a:pPr algn="ctr" indent="0" marL="0">
              <a:buNone/>
            </a:pPr>
            <a:r>
              <a:rPr lang="en-US" sz="1200" dirty="0">
                <a:solidFill>
                  <a:srgbClr val="C7D8DD"/>
                </a:solidFill>
                <a:latin typeface="Calibri" pitchFamily="34" charset="0"/>
                <a:ea typeface="Calibri" pitchFamily="34" charset="-122"/>
                <a:cs typeface="Calibri" pitchFamily="34" charset="-120"/>
              </a:rPr>
              <a:t>Patients covered in the dashboard</a:t>
            </a:r>
            <a:endParaRPr lang="en-US" sz="1200" dirty="0"/>
          </a:p>
        </p:txBody>
      </p:sp>
      <p:sp>
        <p:nvSpPr>
          <p:cNvPr id="7" name="Shape 5"/>
          <p:cNvSpPr/>
          <p:nvPr/>
        </p:nvSpPr>
        <p:spPr>
          <a:xfrm>
            <a:off x="4337304" y="1554480"/>
            <a:ext cx="3514344" cy="1828800"/>
          </a:xfrm>
          <a:prstGeom prst="roundRect">
            <a:avLst>
              <a:gd name="adj" fmla="val 5000"/>
            </a:avLst>
          </a:prstGeom>
          <a:solidFill>
            <a:srgbClr val="12365A"/>
          </a:solidFill>
          <a:ln/>
        </p:spPr>
      </p:sp>
      <p:sp>
        <p:nvSpPr>
          <p:cNvPr id="8" name="Text 6"/>
          <p:cNvSpPr/>
          <p:nvPr/>
        </p:nvSpPr>
        <p:spPr>
          <a:xfrm>
            <a:off x="4520184" y="1783080"/>
            <a:ext cx="3148584" cy="822960"/>
          </a:xfrm>
          <a:prstGeom prst="rect">
            <a:avLst/>
          </a:prstGeom>
          <a:noFill/>
          <a:ln/>
        </p:spPr>
        <p:txBody>
          <a:bodyPr wrap="square" lIns="0" tIns="0" rIns="0" bIns="0" rtlCol="0" anchor="ctr"/>
          <a:lstStyle/>
          <a:p>
            <a:pPr algn="ctr" indent="0" marL="0">
              <a:buNone/>
            </a:pPr>
            <a:r>
              <a:rPr lang="en-US" sz="4000" b="1" dirty="0">
                <a:solidFill>
                  <a:srgbClr val="02C39A"/>
                </a:solidFill>
                <a:latin typeface="Cambria" pitchFamily="34" charset="0"/>
                <a:ea typeface="Cambria" pitchFamily="34" charset="-122"/>
                <a:cs typeface="Cambria" pitchFamily="34" charset="-120"/>
              </a:rPr>
              <a:t>51.54</a:t>
            </a:r>
            <a:endParaRPr lang="en-US" sz="4000" dirty="0"/>
          </a:p>
        </p:txBody>
      </p:sp>
      <p:sp>
        <p:nvSpPr>
          <p:cNvPr id="9" name="Text 7"/>
          <p:cNvSpPr/>
          <p:nvPr/>
        </p:nvSpPr>
        <p:spPr>
          <a:xfrm>
            <a:off x="4520184" y="2651760"/>
            <a:ext cx="3148584" cy="640080"/>
          </a:xfrm>
          <a:prstGeom prst="rect">
            <a:avLst/>
          </a:prstGeom>
          <a:noFill/>
          <a:ln/>
        </p:spPr>
        <p:txBody>
          <a:bodyPr wrap="square" lIns="0" tIns="0" rIns="0" bIns="0" rtlCol="0" anchor="ctr"/>
          <a:lstStyle/>
          <a:p>
            <a:pPr algn="ctr" indent="0" marL="0">
              <a:buNone/>
            </a:pPr>
            <a:r>
              <a:rPr lang="en-US" sz="1200" dirty="0">
                <a:solidFill>
                  <a:srgbClr val="C7D8DD"/>
                </a:solidFill>
                <a:latin typeface="Calibri" pitchFamily="34" charset="0"/>
                <a:ea typeface="Calibri" pitchFamily="34" charset="-122"/>
                <a:cs typeface="Calibri" pitchFamily="34" charset="-120"/>
              </a:rPr>
              <a:t>Average patient age (years)</a:t>
            </a:r>
            <a:endParaRPr lang="en-US" sz="1200" dirty="0"/>
          </a:p>
        </p:txBody>
      </p:sp>
      <p:sp>
        <p:nvSpPr>
          <p:cNvPr id="10" name="Shape 8"/>
          <p:cNvSpPr/>
          <p:nvPr/>
        </p:nvSpPr>
        <p:spPr>
          <a:xfrm>
            <a:off x="8125968" y="1554480"/>
            <a:ext cx="3514344" cy="1828800"/>
          </a:xfrm>
          <a:prstGeom prst="roundRect">
            <a:avLst>
              <a:gd name="adj" fmla="val 5000"/>
            </a:avLst>
          </a:prstGeom>
          <a:solidFill>
            <a:srgbClr val="12365A"/>
          </a:solidFill>
          <a:ln/>
        </p:spPr>
      </p:sp>
      <p:sp>
        <p:nvSpPr>
          <p:cNvPr id="11" name="Text 9"/>
          <p:cNvSpPr/>
          <p:nvPr/>
        </p:nvSpPr>
        <p:spPr>
          <a:xfrm>
            <a:off x="8308848" y="1783080"/>
            <a:ext cx="3148584" cy="822960"/>
          </a:xfrm>
          <a:prstGeom prst="rect">
            <a:avLst/>
          </a:prstGeom>
          <a:noFill/>
          <a:ln/>
        </p:spPr>
        <p:txBody>
          <a:bodyPr wrap="square" lIns="0" tIns="0" rIns="0" bIns="0" rtlCol="0" anchor="ctr"/>
          <a:lstStyle/>
          <a:p>
            <a:pPr algn="ctr" indent="0" marL="0">
              <a:buNone/>
            </a:pPr>
            <a:r>
              <a:rPr lang="en-US" sz="4000" b="1" dirty="0">
                <a:solidFill>
                  <a:srgbClr val="02C39A"/>
                </a:solidFill>
                <a:latin typeface="Cambria" pitchFamily="34" charset="0"/>
                <a:ea typeface="Cambria" pitchFamily="34" charset="-122"/>
                <a:cs typeface="Cambria" pitchFamily="34" charset="-120"/>
              </a:rPr>
              <a:t>25.54K</a:t>
            </a:r>
            <a:endParaRPr lang="en-US" sz="4000" dirty="0"/>
          </a:p>
        </p:txBody>
      </p:sp>
      <p:sp>
        <p:nvSpPr>
          <p:cNvPr id="12" name="Text 10"/>
          <p:cNvSpPr/>
          <p:nvPr/>
        </p:nvSpPr>
        <p:spPr>
          <a:xfrm>
            <a:off x="8308848" y="2651760"/>
            <a:ext cx="3148584" cy="640080"/>
          </a:xfrm>
          <a:prstGeom prst="rect">
            <a:avLst/>
          </a:prstGeom>
          <a:noFill/>
          <a:ln/>
        </p:spPr>
        <p:txBody>
          <a:bodyPr wrap="square" lIns="0" tIns="0" rIns="0" bIns="0" rtlCol="0" anchor="ctr"/>
          <a:lstStyle/>
          <a:p>
            <a:pPr algn="ctr" indent="0" marL="0">
              <a:buNone/>
            </a:pPr>
            <a:r>
              <a:rPr lang="en-US" sz="1200" dirty="0">
                <a:solidFill>
                  <a:srgbClr val="C7D8DD"/>
                </a:solidFill>
                <a:latin typeface="Calibri" pitchFamily="34" charset="0"/>
                <a:ea typeface="Calibri" pitchFamily="34" charset="-122"/>
                <a:cs typeface="Calibri" pitchFamily="34" charset="-120"/>
              </a:rPr>
              <a:t>Average billing amount</a:t>
            </a:r>
            <a:endParaRPr lang="en-US" sz="1200" dirty="0"/>
          </a:p>
        </p:txBody>
      </p:sp>
      <p:sp>
        <p:nvSpPr>
          <p:cNvPr id="13" name="Shape 11"/>
          <p:cNvSpPr/>
          <p:nvPr/>
        </p:nvSpPr>
        <p:spPr>
          <a:xfrm>
            <a:off x="548640" y="3776472"/>
            <a:ext cx="146304" cy="146304"/>
          </a:xfrm>
          <a:prstGeom prst="ellipse">
            <a:avLst/>
          </a:prstGeom>
          <a:solidFill>
            <a:srgbClr val="02C39A"/>
          </a:solidFill>
          <a:ln/>
        </p:spPr>
      </p:sp>
      <p:sp>
        <p:nvSpPr>
          <p:cNvPr id="14" name="Text 12"/>
          <p:cNvSpPr/>
          <p:nvPr/>
        </p:nvSpPr>
        <p:spPr>
          <a:xfrm>
            <a:off x="868680" y="3657600"/>
            <a:ext cx="1060704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Medical conditions show varying patient distributions across categories.</a:t>
            </a:r>
            <a:endParaRPr lang="en-US" sz="1350" dirty="0"/>
          </a:p>
        </p:txBody>
      </p:sp>
      <p:sp>
        <p:nvSpPr>
          <p:cNvPr id="15" name="Shape 13"/>
          <p:cNvSpPr/>
          <p:nvPr/>
        </p:nvSpPr>
        <p:spPr>
          <a:xfrm>
            <a:off x="548640" y="4279392"/>
            <a:ext cx="146304" cy="146304"/>
          </a:xfrm>
          <a:prstGeom prst="ellipse">
            <a:avLst/>
          </a:prstGeom>
          <a:solidFill>
            <a:srgbClr val="02C39A"/>
          </a:solidFill>
          <a:ln/>
        </p:spPr>
      </p:sp>
      <p:sp>
        <p:nvSpPr>
          <p:cNvPr id="16" name="Text 14"/>
          <p:cNvSpPr/>
          <p:nvPr/>
        </p:nvSpPr>
        <p:spPr>
          <a:xfrm>
            <a:off x="868680" y="4160520"/>
            <a:ext cx="1060704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Insurance providers contribute differently to overall billing.</a:t>
            </a:r>
            <a:endParaRPr lang="en-US" sz="1350" dirty="0"/>
          </a:p>
        </p:txBody>
      </p:sp>
      <p:sp>
        <p:nvSpPr>
          <p:cNvPr id="17" name="Shape 15"/>
          <p:cNvSpPr/>
          <p:nvPr/>
        </p:nvSpPr>
        <p:spPr>
          <a:xfrm>
            <a:off x="548640" y="4782312"/>
            <a:ext cx="146304" cy="146304"/>
          </a:xfrm>
          <a:prstGeom prst="ellipse">
            <a:avLst/>
          </a:prstGeom>
          <a:solidFill>
            <a:srgbClr val="02C39A"/>
          </a:solidFill>
          <a:ln/>
        </p:spPr>
      </p:sp>
      <p:sp>
        <p:nvSpPr>
          <p:cNvPr id="18" name="Text 16"/>
          <p:cNvSpPr/>
          <p:nvPr/>
        </p:nvSpPr>
        <p:spPr>
          <a:xfrm>
            <a:off x="868680" y="4663440"/>
            <a:ext cx="1060704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Admission types highlight patterns in hospital service utilization.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Benefits</a:t>
            </a:r>
            <a:endParaRPr lang="en-US" sz="30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51606B"/>
                </a:solidFill>
                <a:latin typeface="Calibri" pitchFamily="34" charset="0"/>
                <a:ea typeface="Calibri" pitchFamily="34" charset="-122"/>
                <a:cs typeface="Calibri" pitchFamily="34" charset="-120"/>
              </a:rPr>
              <a:t>Value delivered to healthcare stakeholders</a:t>
            </a:r>
            <a:endParaRPr lang="en-US" sz="1400" dirty="0"/>
          </a:p>
        </p:txBody>
      </p:sp>
      <p:sp>
        <p:nvSpPr>
          <p:cNvPr id="4" name="Shape 2"/>
          <p:cNvSpPr/>
          <p:nvPr/>
        </p:nvSpPr>
        <p:spPr>
          <a:xfrm>
            <a:off x="548640" y="1600200"/>
            <a:ext cx="11091672" cy="777240"/>
          </a:xfrm>
          <a:prstGeom prst="roundRect">
            <a:avLst>
              <a:gd name="adj" fmla="val 9412"/>
            </a:avLst>
          </a:prstGeom>
          <a:solidFill>
            <a:srgbClr val="F1F6F6"/>
          </a:solidFill>
          <a:ln/>
        </p:spPr>
      </p:sp>
      <p:sp>
        <p:nvSpPr>
          <p:cNvPr id="5" name="Shape 3"/>
          <p:cNvSpPr/>
          <p:nvPr/>
        </p:nvSpPr>
        <p:spPr>
          <a:xfrm>
            <a:off x="777240" y="1719072"/>
            <a:ext cx="548640" cy="54864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919886" y="1861718"/>
            <a:ext cx="263347" cy="263347"/>
          </a:xfrm>
          <a:prstGeom prst="rect">
            <a:avLst/>
          </a:prstGeom>
        </p:spPr>
      </p:pic>
      <p:sp>
        <p:nvSpPr>
          <p:cNvPr id="7" name="Text 4"/>
          <p:cNvSpPr/>
          <p:nvPr/>
        </p:nvSpPr>
        <p:spPr>
          <a:xfrm>
            <a:off x="1554480" y="1600200"/>
            <a:ext cx="9875520" cy="7772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Supports Hospital Management Decisions</a:t>
            </a:r>
            <a:endParaRPr lang="en-US" sz="1500" dirty="0"/>
          </a:p>
        </p:txBody>
      </p:sp>
      <p:sp>
        <p:nvSpPr>
          <p:cNvPr id="8" name="Shape 5"/>
          <p:cNvSpPr/>
          <p:nvPr/>
        </p:nvSpPr>
        <p:spPr>
          <a:xfrm>
            <a:off x="548640" y="2532888"/>
            <a:ext cx="11091672" cy="777240"/>
          </a:xfrm>
          <a:prstGeom prst="roundRect">
            <a:avLst>
              <a:gd name="adj" fmla="val 9412"/>
            </a:avLst>
          </a:prstGeom>
          <a:solidFill>
            <a:srgbClr val="F1F6F6"/>
          </a:solidFill>
          <a:ln/>
        </p:spPr>
      </p:sp>
      <p:sp>
        <p:nvSpPr>
          <p:cNvPr id="9" name="Shape 6"/>
          <p:cNvSpPr/>
          <p:nvPr/>
        </p:nvSpPr>
        <p:spPr>
          <a:xfrm>
            <a:off x="777240" y="2651760"/>
            <a:ext cx="548640" cy="548640"/>
          </a:xfrm>
          <a:prstGeom prst="ellipse">
            <a:avLst/>
          </a:prstGeom>
          <a:solidFill>
            <a:srgbClr val="028090"/>
          </a:solidFill>
          <a:ln/>
        </p:spPr>
      </p:sp>
      <p:pic>
        <p:nvPicPr>
          <p:cNvPr id="10" name="Image 1" descr="preencoded.png">    </p:cNvPr>
          <p:cNvPicPr>
            <a:picLocks noChangeAspect="1"/>
          </p:cNvPicPr>
          <p:nvPr/>
        </p:nvPicPr>
        <p:blipFill>
          <a:blip r:embed="rId2"/>
          <a:stretch>
            <a:fillRect/>
          </a:stretch>
        </p:blipFill>
        <p:spPr>
          <a:xfrm>
            <a:off x="919886" y="2794406"/>
            <a:ext cx="263347" cy="263347"/>
          </a:xfrm>
          <a:prstGeom prst="rect">
            <a:avLst/>
          </a:prstGeom>
        </p:spPr>
      </p:pic>
      <p:sp>
        <p:nvSpPr>
          <p:cNvPr id="11" name="Text 7"/>
          <p:cNvSpPr/>
          <p:nvPr/>
        </p:nvSpPr>
        <p:spPr>
          <a:xfrm>
            <a:off x="1554480" y="2532888"/>
            <a:ext cx="9875520" cy="7772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Improves Operational Monitoring</a:t>
            </a:r>
            <a:endParaRPr lang="en-US" sz="1500" dirty="0"/>
          </a:p>
        </p:txBody>
      </p:sp>
      <p:sp>
        <p:nvSpPr>
          <p:cNvPr id="12" name="Shape 8"/>
          <p:cNvSpPr/>
          <p:nvPr/>
        </p:nvSpPr>
        <p:spPr>
          <a:xfrm>
            <a:off x="548640" y="3465576"/>
            <a:ext cx="11091672" cy="777240"/>
          </a:xfrm>
          <a:prstGeom prst="roundRect">
            <a:avLst>
              <a:gd name="adj" fmla="val 9412"/>
            </a:avLst>
          </a:prstGeom>
          <a:solidFill>
            <a:srgbClr val="F1F6F6"/>
          </a:solidFill>
          <a:ln/>
        </p:spPr>
      </p:sp>
      <p:sp>
        <p:nvSpPr>
          <p:cNvPr id="13" name="Shape 9"/>
          <p:cNvSpPr/>
          <p:nvPr/>
        </p:nvSpPr>
        <p:spPr>
          <a:xfrm>
            <a:off x="777240" y="3584448"/>
            <a:ext cx="548640" cy="548640"/>
          </a:xfrm>
          <a:prstGeom prst="ellipse">
            <a:avLst/>
          </a:prstGeom>
          <a:solidFill>
            <a:srgbClr val="028090"/>
          </a:solidFill>
          <a:ln/>
        </p:spPr>
      </p:sp>
      <p:pic>
        <p:nvPicPr>
          <p:cNvPr id="14" name="Image 2" descr="preencoded.png">    </p:cNvPr>
          <p:cNvPicPr>
            <a:picLocks noChangeAspect="1"/>
          </p:cNvPicPr>
          <p:nvPr/>
        </p:nvPicPr>
        <p:blipFill>
          <a:blip r:embed="rId3"/>
          <a:stretch>
            <a:fillRect/>
          </a:stretch>
        </p:blipFill>
        <p:spPr>
          <a:xfrm>
            <a:off x="919886" y="3727094"/>
            <a:ext cx="263347" cy="263347"/>
          </a:xfrm>
          <a:prstGeom prst="rect">
            <a:avLst/>
          </a:prstGeom>
        </p:spPr>
      </p:pic>
      <p:sp>
        <p:nvSpPr>
          <p:cNvPr id="15" name="Text 10"/>
          <p:cNvSpPr/>
          <p:nvPr/>
        </p:nvSpPr>
        <p:spPr>
          <a:xfrm>
            <a:off x="1554480" y="3465576"/>
            <a:ext cx="9875520" cy="7772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Enables Quick Analysis via Interactive Visuals</a:t>
            </a:r>
            <a:endParaRPr lang="en-US" sz="1500" dirty="0"/>
          </a:p>
        </p:txBody>
      </p:sp>
      <p:sp>
        <p:nvSpPr>
          <p:cNvPr id="16" name="Shape 11"/>
          <p:cNvSpPr/>
          <p:nvPr/>
        </p:nvSpPr>
        <p:spPr>
          <a:xfrm>
            <a:off x="548640" y="4398264"/>
            <a:ext cx="11091672" cy="777240"/>
          </a:xfrm>
          <a:prstGeom prst="roundRect">
            <a:avLst>
              <a:gd name="adj" fmla="val 9412"/>
            </a:avLst>
          </a:prstGeom>
          <a:solidFill>
            <a:srgbClr val="F1F6F6"/>
          </a:solidFill>
          <a:ln/>
        </p:spPr>
      </p:sp>
      <p:sp>
        <p:nvSpPr>
          <p:cNvPr id="17" name="Shape 12"/>
          <p:cNvSpPr/>
          <p:nvPr/>
        </p:nvSpPr>
        <p:spPr>
          <a:xfrm>
            <a:off x="777240" y="4517136"/>
            <a:ext cx="548640" cy="548640"/>
          </a:xfrm>
          <a:prstGeom prst="ellipse">
            <a:avLst/>
          </a:prstGeom>
          <a:solidFill>
            <a:srgbClr val="028090"/>
          </a:solidFill>
          <a:ln/>
        </p:spPr>
      </p:sp>
      <p:pic>
        <p:nvPicPr>
          <p:cNvPr id="18" name="Image 3" descr="preencoded.png">    </p:cNvPr>
          <p:cNvPicPr>
            <a:picLocks noChangeAspect="1"/>
          </p:cNvPicPr>
          <p:nvPr/>
        </p:nvPicPr>
        <p:blipFill>
          <a:blip r:embed="rId4"/>
          <a:stretch>
            <a:fillRect/>
          </a:stretch>
        </p:blipFill>
        <p:spPr>
          <a:xfrm>
            <a:off x="919886" y="4659782"/>
            <a:ext cx="263347" cy="263347"/>
          </a:xfrm>
          <a:prstGeom prst="rect">
            <a:avLst/>
          </a:prstGeom>
        </p:spPr>
      </p:pic>
      <p:sp>
        <p:nvSpPr>
          <p:cNvPr id="19" name="Text 13"/>
          <p:cNvSpPr/>
          <p:nvPr/>
        </p:nvSpPr>
        <p:spPr>
          <a:xfrm>
            <a:off x="1554480" y="4398264"/>
            <a:ext cx="9875520" cy="7772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Helps Identify Healthcare Trends</a:t>
            </a:r>
            <a:endParaRPr lang="en-US" sz="1500" dirty="0"/>
          </a:p>
        </p:txBody>
      </p:sp>
      <p:sp>
        <p:nvSpPr>
          <p:cNvPr id="20" name="Shape 14"/>
          <p:cNvSpPr/>
          <p:nvPr/>
        </p:nvSpPr>
        <p:spPr>
          <a:xfrm>
            <a:off x="548640" y="5330952"/>
            <a:ext cx="11091672" cy="777240"/>
          </a:xfrm>
          <a:prstGeom prst="roundRect">
            <a:avLst>
              <a:gd name="adj" fmla="val 9412"/>
            </a:avLst>
          </a:prstGeom>
          <a:solidFill>
            <a:srgbClr val="F1F6F6"/>
          </a:solidFill>
          <a:ln/>
        </p:spPr>
      </p:sp>
      <p:sp>
        <p:nvSpPr>
          <p:cNvPr id="21" name="Shape 15"/>
          <p:cNvSpPr/>
          <p:nvPr/>
        </p:nvSpPr>
        <p:spPr>
          <a:xfrm>
            <a:off x="777240" y="5449824"/>
            <a:ext cx="548640" cy="548640"/>
          </a:xfrm>
          <a:prstGeom prst="ellipse">
            <a:avLst/>
          </a:prstGeom>
          <a:solidFill>
            <a:srgbClr val="028090"/>
          </a:solidFill>
          <a:ln/>
        </p:spPr>
      </p:sp>
      <p:pic>
        <p:nvPicPr>
          <p:cNvPr id="22" name="Image 4" descr="preencoded.png">    </p:cNvPr>
          <p:cNvPicPr>
            <a:picLocks noChangeAspect="1"/>
          </p:cNvPicPr>
          <p:nvPr/>
        </p:nvPicPr>
        <p:blipFill>
          <a:blip r:embed="rId5"/>
          <a:stretch>
            <a:fillRect/>
          </a:stretch>
        </p:blipFill>
        <p:spPr>
          <a:xfrm>
            <a:off x="919886" y="5592470"/>
            <a:ext cx="263347" cy="263347"/>
          </a:xfrm>
          <a:prstGeom prst="rect">
            <a:avLst/>
          </a:prstGeom>
        </p:spPr>
      </p:pic>
      <p:sp>
        <p:nvSpPr>
          <p:cNvPr id="23" name="Text 16"/>
          <p:cNvSpPr/>
          <p:nvPr/>
        </p:nvSpPr>
        <p:spPr>
          <a:xfrm>
            <a:off x="1554480" y="5330952"/>
            <a:ext cx="9875520" cy="7772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Facilitates Data-Driven Decision-Making</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A"/>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Future Scope</a:t>
            </a:r>
            <a:endParaRPr lang="en-US" sz="30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indent="0" marL="0">
              <a:buNone/>
            </a:pPr>
            <a:r>
              <a:rPr lang="en-US" sz="1400" i="1" dirty="0">
                <a:solidFill>
                  <a:srgbClr val="51606B"/>
                </a:solidFill>
                <a:latin typeface="Calibri" pitchFamily="34" charset="0"/>
                <a:ea typeface="Calibri" pitchFamily="34" charset="-122"/>
                <a:cs typeface="Calibri" pitchFamily="34" charset="-120"/>
              </a:rPr>
              <a:t>Where this project can go next</a:t>
            </a:r>
            <a:endParaRPr lang="en-US" sz="1400" dirty="0"/>
          </a:p>
        </p:txBody>
      </p:sp>
      <p:sp>
        <p:nvSpPr>
          <p:cNvPr id="4" name="Shape 2"/>
          <p:cNvSpPr/>
          <p:nvPr/>
        </p:nvSpPr>
        <p:spPr>
          <a:xfrm>
            <a:off x="548640" y="1554480"/>
            <a:ext cx="2035454" cy="4023360"/>
          </a:xfrm>
          <a:prstGeom prst="roundRect">
            <a:avLst>
              <a:gd name="adj" fmla="val 4492"/>
            </a:avLst>
          </a:prstGeom>
          <a:solidFill>
            <a:srgbClr val="FFFFFF"/>
          </a:solidFill>
          <a:ln/>
          <a:effectLst>
            <a:outerShdw sx="100000" sy="100000" kx="0" ky="0" algn="bl" rotWithShape="0" blurRad="76200" dist="25400" dir="2700000">
              <a:srgbClr val="000000">
                <a:alpha val="10000"/>
              </a:srgbClr>
            </a:outerShdw>
          </a:effectLst>
        </p:spPr>
      </p:sp>
      <p:sp>
        <p:nvSpPr>
          <p:cNvPr id="5" name="Shape 3"/>
          <p:cNvSpPr/>
          <p:nvPr/>
        </p:nvSpPr>
        <p:spPr>
          <a:xfrm>
            <a:off x="1269187" y="1828800"/>
            <a:ext cx="594360" cy="594360"/>
          </a:xfrm>
          <a:prstGeom prst="ellipse">
            <a:avLst/>
          </a:prstGeom>
          <a:solidFill>
            <a:srgbClr val="00A896"/>
          </a:solidFill>
          <a:ln/>
        </p:spPr>
      </p:sp>
      <p:pic>
        <p:nvPicPr>
          <p:cNvPr id="6" name="Image 0" descr="preencoded.png">    </p:cNvPr>
          <p:cNvPicPr>
            <a:picLocks noChangeAspect="1"/>
          </p:cNvPicPr>
          <p:nvPr/>
        </p:nvPicPr>
        <p:blipFill>
          <a:blip r:embed="rId1"/>
          <a:stretch>
            <a:fillRect/>
          </a:stretch>
        </p:blipFill>
        <p:spPr>
          <a:xfrm>
            <a:off x="1410919" y="1979676"/>
            <a:ext cx="310896" cy="310896"/>
          </a:xfrm>
          <a:prstGeom prst="rect">
            <a:avLst/>
          </a:prstGeom>
        </p:spPr>
      </p:pic>
      <p:sp>
        <p:nvSpPr>
          <p:cNvPr id="7" name="Text 4"/>
          <p:cNvSpPr/>
          <p:nvPr/>
        </p:nvSpPr>
        <p:spPr>
          <a:xfrm>
            <a:off x="685800" y="2651760"/>
            <a:ext cx="1761134" cy="822960"/>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Real-Time Integration</a:t>
            </a:r>
            <a:endParaRPr lang="en-US" sz="1250" dirty="0"/>
          </a:p>
        </p:txBody>
      </p:sp>
      <p:sp>
        <p:nvSpPr>
          <p:cNvPr id="8" name="Text 5"/>
          <p:cNvSpPr/>
          <p:nvPr/>
        </p:nvSpPr>
        <p:spPr>
          <a:xfrm>
            <a:off x="685800" y="3520440"/>
            <a:ext cx="1761134" cy="1737360"/>
          </a:xfrm>
          <a:prstGeom prst="rect">
            <a:avLst/>
          </a:prstGeom>
          <a:noFill/>
          <a:ln/>
        </p:spPr>
        <p:txBody>
          <a:bodyPr wrap="square" lIns="0" tIns="0" rIns="0" bIns="0" rtlCol="0" anchor="ctr"/>
          <a:lstStyle/>
          <a:p>
            <a:pPr algn="ctr" indent="0" marL="0">
              <a:buNone/>
            </a:pPr>
            <a:r>
              <a:rPr lang="en-US" sz="1050" dirty="0">
                <a:solidFill>
                  <a:srgbClr val="51606B"/>
                </a:solidFill>
                <a:latin typeface="Calibri" pitchFamily="34" charset="0"/>
                <a:ea typeface="Calibri" pitchFamily="34" charset="-122"/>
                <a:cs typeface="Calibri" pitchFamily="34" charset="-120"/>
              </a:rPr>
              <a:t>Connect to live hospital databases.</a:t>
            </a:r>
            <a:endParaRPr lang="en-US" sz="1050" dirty="0"/>
          </a:p>
        </p:txBody>
      </p:sp>
      <p:sp>
        <p:nvSpPr>
          <p:cNvPr id="9" name="Shape 6"/>
          <p:cNvSpPr/>
          <p:nvPr/>
        </p:nvSpPr>
        <p:spPr>
          <a:xfrm>
            <a:off x="2812694" y="1554480"/>
            <a:ext cx="2035454" cy="4023360"/>
          </a:xfrm>
          <a:prstGeom prst="roundRect">
            <a:avLst>
              <a:gd name="adj" fmla="val 4492"/>
            </a:avLst>
          </a:prstGeom>
          <a:solidFill>
            <a:srgbClr val="FFFFFF"/>
          </a:solidFill>
          <a:ln/>
          <a:effectLst>
            <a:outerShdw sx="100000" sy="100000" kx="0" ky="0" algn="bl" rotWithShape="0" blurRad="76200" dist="25400" dir="2700000">
              <a:srgbClr val="000000">
                <a:alpha val="10000"/>
              </a:srgbClr>
            </a:outerShdw>
          </a:effectLst>
        </p:spPr>
      </p:sp>
      <p:sp>
        <p:nvSpPr>
          <p:cNvPr id="10" name="Shape 7"/>
          <p:cNvSpPr/>
          <p:nvPr/>
        </p:nvSpPr>
        <p:spPr>
          <a:xfrm>
            <a:off x="3533242" y="1828800"/>
            <a:ext cx="594360" cy="594360"/>
          </a:xfrm>
          <a:prstGeom prst="ellipse">
            <a:avLst/>
          </a:prstGeom>
          <a:solidFill>
            <a:srgbClr val="00A896"/>
          </a:solidFill>
          <a:ln/>
        </p:spPr>
      </p:sp>
      <p:pic>
        <p:nvPicPr>
          <p:cNvPr id="11" name="Image 1" descr="preencoded.png">    </p:cNvPr>
          <p:cNvPicPr>
            <a:picLocks noChangeAspect="1"/>
          </p:cNvPicPr>
          <p:nvPr/>
        </p:nvPicPr>
        <p:blipFill>
          <a:blip r:embed="rId2"/>
          <a:stretch>
            <a:fillRect/>
          </a:stretch>
        </p:blipFill>
        <p:spPr>
          <a:xfrm>
            <a:off x="3674974" y="1979676"/>
            <a:ext cx="310896" cy="310896"/>
          </a:xfrm>
          <a:prstGeom prst="rect">
            <a:avLst/>
          </a:prstGeom>
        </p:spPr>
      </p:pic>
      <p:sp>
        <p:nvSpPr>
          <p:cNvPr id="12" name="Text 8"/>
          <p:cNvSpPr/>
          <p:nvPr/>
        </p:nvSpPr>
        <p:spPr>
          <a:xfrm>
            <a:off x="2949854" y="2651760"/>
            <a:ext cx="1761134" cy="822960"/>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ML Risk Prediction</a:t>
            </a:r>
            <a:endParaRPr lang="en-US" sz="1250" dirty="0"/>
          </a:p>
        </p:txBody>
      </p:sp>
      <p:sp>
        <p:nvSpPr>
          <p:cNvPr id="13" name="Text 9"/>
          <p:cNvSpPr/>
          <p:nvPr/>
        </p:nvSpPr>
        <p:spPr>
          <a:xfrm>
            <a:off x="2949854" y="3520440"/>
            <a:ext cx="1761134" cy="1737360"/>
          </a:xfrm>
          <a:prstGeom prst="rect">
            <a:avLst/>
          </a:prstGeom>
          <a:noFill/>
          <a:ln/>
        </p:spPr>
        <p:txBody>
          <a:bodyPr wrap="square" lIns="0" tIns="0" rIns="0" bIns="0" rtlCol="0" anchor="ctr"/>
          <a:lstStyle/>
          <a:p>
            <a:pPr algn="ctr" indent="0" marL="0">
              <a:buNone/>
            </a:pPr>
            <a:r>
              <a:rPr lang="en-US" sz="1050" dirty="0">
                <a:solidFill>
                  <a:srgbClr val="51606B"/>
                </a:solidFill>
                <a:latin typeface="Calibri" pitchFamily="34" charset="0"/>
                <a:ea typeface="Calibri" pitchFamily="34" charset="-122"/>
                <a:cs typeface="Calibri" pitchFamily="34" charset="-120"/>
              </a:rPr>
              <a:t>Predict disease risks using Machine Learning.</a:t>
            </a:r>
            <a:endParaRPr lang="en-US" sz="1050" dirty="0"/>
          </a:p>
        </p:txBody>
      </p:sp>
      <p:sp>
        <p:nvSpPr>
          <p:cNvPr id="14" name="Shape 10"/>
          <p:cNvSpPr/>
          <p:nvPr/>
        </p:nvSpPr>
        <p:spPr>
          <a:xfrm>
            <a:off x="5076749" y="1554480"/>
            <a:ext cx="2035454" cy="4023360"/>
          </a:xfrm>
          <a:prstGeom prst="roundRect">
            <a:avLst>
              <a:gd name="adj" fmla="val 4492"/>
            </a:avLst>
          </a:prstGeom>
          <a:solidFill>
            <a:srgbClr val="FFFFFF"/>
          </a:solidFill>
          <a:ln/>
          <a:effectLst>
            <a:outerShdw sx="100000" sy="100000" kx="0" ky="0" algn="bl" rotWithShape="0" blurRad="76200" dist="25400" dir="2700000">
              <a:srgbClr val="000000">
                <a:alpha val="10000"/>
              </a:srgbClr>
            </a:outerShdw>
          </a:effectLst>
        </p:spPr>
      </p:sp>
      <p:sp>
        <p:nvSpPr>
          <p:cNvPr id="15" name="Shape 11"/>
          <p:cNvSpPr/>
          <p:nvPr/>
        </p:nvSpPr>
        <p:spPr>
          <a:xfrm>
            <a:off x="5797296" y="1828800"/>
            <a:ext cx="594360" cy="594360"/>
          </a:xfrm>
          <a:prstGeom prst="ellipse">
            <a:avLst/>
          </a:prstGeom>
          <a:solidFill>
            <a:srgbClr val="00A896"/>
          </a:solidFill>
          <a:ln/>
        </p:spPr>
      </p:sp>
      <p:pic>
        <p:nvPicPr>
          <p:cNvPr id="16" name="Image 2" descr="preencoded.png">    </p:cNvPr>
          <p:cNvPicPr>
            <a:picLocks noChangeAspect="1"/>
          </p:cNvPicPr>
          <p:nvPr/>
        </p:nvPicPr>
        <p:blipFill>
          <a:blip r:embed="rId3"/>
          <a:stretch>
            <a:fillRect/>
          </a:stretch>
        </p:blipFill>
        <p:spPr>
          <a:xfrm>
            <a:off x="5939028" y="1979676"/>
            <a:ext cx="310896" cy="310896"/>
          </a:xfrm>
          <a:prstGeom prst="rect">
            <a:avLst/>
          </a:prstGeom>
        </p:spPr>
      </p:pic>
      <p:sp>
        <p:nvSpPr>
          <p:cNvPr id="17" name="Text 12"/>
          <p:cNvSpPr/>
          <p:nvPr/>
        </p:nvSpPr>
        <p:spPr>
          <a:xfrm>
            <a:off x="5213909" y="2651760"/>
            <a:ext cx="1761134" cy="822960"/>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Readmission Analysis</a:t>
            </a:r>
            <a:endParaRPr lang="en-US" sz="1250" dirty="0"/>
          </a:p>
        </p:txBody>
      </p:sp>
      <p:sp>
        <p:nvSpPr>
          <p:cNvPr id="18" name="Text 13"/>
          <p:cNvSpPr/>
          <p:nvPr/>
        </p:nvSpPr>
        <p:spPr>
          <a:xfrm>
            <a:off x="5213909" y="3520440"/>
            <a:ext cx="1761134" cy="1737360"/>
          </a:xfrm>
          <a:prstGeom prst="rect">
            <a:avLst/>
          </a:prstGeom>
          <a:noFill/>
          <a:ln/>
        </p:spPr>
        <p:txBody>
          <a:bodyPr wrap="square" lIns="0" tIns="0" rIns="0" bIns="0" rtlCol="0" anchor="ctr"/>
          <a:lstStyle/>
          <a:p>
            <a:pPr algn="ctr" indent="0" marL="0">
              <a:buNone/>
            </a:pPr>
            <a:r>
              <a:rPr lang="en-US" sz="1050" dirty="0">
                <a:solidFill>
                  <a:srgbClr val="51606B"/>
                </a:solidFill>
                <a:latin typeface="Calibri" pitchFamily="34" charset="0"/>
                <a:ea typeface="Calibri" pitchFamily="34" charset="-122"/>
                <a:cs typeface="Calibri" pitchFamily="34" charset="-120"/>
              </a:rPr>
              <a:t>Add patient readmission tracking.</a:t>
            </a:r>
            <a:endParaRPr lang="en-US" sz="1050" dirty="0"/>
          </a:p>
        </p:txBody>
      </p:sp>
      <p:sp>
        <p:nvSpPr>
          <p:cNvPr id="19" name="Shape 14"/>
          <p:cNvSpPr/>
          <p:nvPr/>
        </p:nvSpPr>
        <p:spPr>
          <a:xfrm>
            <a:off x="7340803" y="1554480"/>
            <a:ext cx="2035454" cy="4023360"/>
          </a:xfrm>
          <a:prstGeom prst="roundRect">
            <a:avLst>
              <a:gd name="adj" fmla="val 4492"/>
            </a:avLst>
          </a:prstGeom>
          <a:solidFill>
            <a:srgbClr val="FFFFFF"/>
          </a:solidFill>
          <a:ln/>
          <a:effectLst>
            <a:outerShdw sx="100000" sy="100000" kx="0" ky="0" algn="bl" rotWithShape="0" blurRad="76200" dist="25400" dir="2700000">
              <a:srgbClr val="000000">
                <a:alpha val="10000"/>
              </a:srgbClr>
            </a:outerShdw>
          </a:effectLst>
        </p:spPr>
      </p:sp>
      <p:sp>
        <p:nvSpPr>
          <p:cNvPr id="20" name="Shape 15"/>
          <p:cNvSpPr/>
          <p:nvPr/>
        </p:nvSpPr>
        <p:spPr>
          <a:xfrm>
            <a:off x="8061350" y="1828800"/>
            <a:ext cx="594360" cy="594360"/>
          </a:xfrm>
          <a:prstGeom prst="ellipse">
            <a:avLst/>
          </a:prstGeom>
          <a:solidFill>
            <a:srgbClr val="00A896"/>
          </a:solidFill>
          <a:ln/>
        </p:spPr>
      </p:sp>
      <p:pic>
        <p:nvPicPr>
          <p:cNvPr id="21" name="Image 3" descr="preencoded.png">    </p:cNvPr>
          <p:cNvPicPr>
            <a:picLocks noChangeAspect="1"/>
          </p:cNvPicPr>
          <p:nvPr/>
        </p:nvPicPr>
        <p:blipFill>
          <a:blip r:embed="rId4"/>
          <a:stretch>
            <a:fillRect/>
          </a:stretch>
        </p:blipFill>
        <p:spPr>
          <a:xfrm>
            <a:off x="8203082" y="1979676"/>
            <a:ext cx="310896" cy="310896"/>
          </a:xfrm>
          <a:prstGeom prst="rect">
            <a:avLst/>
          </a:prstGeom>
        </p:spPr>
      </p:pic>
      <p:sp>
        <p:nvSpPr>
          <p:cNvPr id="22" name="Text 16"/>
          <p:cNvSpPr/>
          <p:nvPr/>
        </p:nvSpPr>
        <p:spPr>
          <a:xfrm>
            <a:off x="7477963" y="2651760"/>
            <a:ext cx="1761134" cy="822960"/>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Geo Healthcare Mapping</a:t>
            </a:r>
            <a:endParaRPr lang="en-US" sz="1250" dirty="0"/>
          </a:p>
        </p:txBody>
      </p:sp>
      <p:sp>
        <p:nvSpPr>
          <p:cNvPr id="23" name="Text 17"/>
          <p:cNvSpPr/>
          <p:nvPr/>
        </p:nvSpPr>
        <p:spPr>
          <a:xfrm>
            <a:off x="7477963" y="3520440"/>
            <a:ext cx="1761134" cy="1737360"/>
          </a:xfrm>
          <a:prstGeom prst="rect">
            <a:avLst/>
          </a:prstGeom>
          <a:noFill/>
          <a:ln/>
        </p:spPr>
        <p:txBody>
          <a:bodyPr wrap="square" lIns="0" tIns="0" rIns="0" bIns="0" rtlCol="0" anchor="ctr"/>
          <a:lstStyle/>
          <a:p>
            <a:pPr algn="ctr" indent="0" marL="0">
              <a:buNone/>
            </a:pPr>
            <a:r>
              <a:rPr lang="en-US" sz="1050" dirty="0">
                <a:solidFill>
                  <a:srgbClr val="51606B"/>
                </a:solidFill>
                <a:latin typeface="Calibri" pitchFamily="34" charset="0"/>
                <a:ea typeface="Calibri" pitchFamily="34" charset="-122"/>
                <a:cs typeface="Calibri" pitchFamily="34" charset="-120"/>
              </a:rPr>
              <a:t>Implement geographical healthcare mapping.</a:t>
            </a:r>
            <a:endParaRPr lang="en-US" sz="1050" dirty="0"/>
          </a:p>
        </p:txBody>
      </p:sp>
      <p:sp>
        <p:nvSpPr>
          <p:cNvPr id="24" name="Shape 18"/>
          <p:cNvSpPr/>
          <p:nvPr/>
        </p:nvSpPr>
        <p:spPr>
          <a:xfrm>
            <a:off x="9604858" y="1554480"/>
            <a:ext cx="2035454" cy="4023360"/>
          </a:xfrm>
          <a:prstGeom prst="roundRect">
            <a:avLst>
              <a:gd name="adj" fmla="val 4492"/>
            </a:avLst>
          </a:prstGeom>
          <a:solidFill>
            <a:srgbClr val="FFFFFF"/>
          </a:solidFill>
          <a:ln/>
          <a:effectLst>
            <a:outerShdw sx="100000" sy="100000" kx="0" ky="0" algn="bl" rotWithShape="0" blurRad="76200" dist="25400" dir="2700000">
              <a:srgbClr val="000000">
                <a:alpha val="10000"/>
              </a:srgbClr>
            </a:outerShdw>
          </a:effectLst>
        </p:spPr>
      </p:sp>
      <p:sp>
        <p:nvSpPr>
          <p:cNvPr id="25" name="Shape 19"/>
          <p:cNvSpPr/>
          <p:nvPr/>
        </p:nvSpPr>
        <p:spPr>
          <a:xfrm>
            <a:off x="10325405" y="1828800"/>
            <a:ext cx="594360" cy="594360"/>
          </a:xfrm>
          <a:prstGeom prst="ellipse">
            <a:avLst/>
          </a:prstGeom>
          <a:solidFill>
            <a:srgbClr val="00A896"/>
          </a:solidFill>
          <a:ln/>
        </p:spPr>
      </p:sp>
      <p:pic>
        <p:nvPicPr>
          <p:cNvPr id="26" name="Image 4" descr="preencoded.png">    </p:cNvPr>
          <p:cNvPicPr>
            <a:picLocks noChangeAspect="1"/>
          </p:cNvPicPr>
          <p:nvPr/>
        </p:nvPicPr>
        <p:blipFill>
          <a:blip r:embed="rId5"/>
          <a:stretch>
            <a:fillRect/>
          </a:stretch>
        </p:blipFill>
        <p:spPr>
          <a:xfrm>
            <a:off x="10467137" y="1979676"/>
            <a:ext cx="310896" cy="310896"/>
          </a:xfrm>
          <a:prstGeom prst="rect">
            <a:avLst/>
          </a:prstGeom>
        </p:spPr>
      </p:pic>
      <p:sp>
        <p:nvSpPr>
          <p:cNvPr id="27" name="Text 20"/>
          <p:cNvSpPr/>
          <p:nvPr/>
        </p:nvSpPr>
        <p:spPr>
          <a:xfrm>
            <a:off x="9742018" y="2651760"/>
            <a:ext cx="1761134" cy="822960"/>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AI Recommendations</a:t>
            </a:r>
            <a:endParaRPr lang="en-US" sz="1250" dirty="0"/>
          </a:p>
        </p:txBody>
      </p:sp>
      <p:sp>
        <p:nvSpPr>
          <p:cNvPr id="28" name="Text 21"/>
          <p:cNvSpPr/>
          <p:nvPr/>
        </p:nvSpPr>
        <p:spPr>
          <a:xfrm>
            <a:off x="9742018" y="3520440"/>
            <a:ext cx="1761134" cy="1737360"/>
          </a:xfrm>
          <a:prstGeom prst="rect">
            <a:avLst/>
          </a:prstGeom>
          <a:noFill/>
          <a:ln/>
        </p:spPr>
        <p:txBody>
          <a:bodyPr wrap="square" lIns="0" tIns="0" rIns="0" bIns="0" rtlCol="0" anchor="ctr"/>
          <a:lstStyle/>
          <a:p>
            <a:pPr algn="ctr" indent="0" marL="0">
              <a:buNone/>
            </a:pPr>
            <a:r>
              <a:rPr lang="en-US" sz="1050" dirty="0">
                <a:solidFill>
                  <a:srgbClr val="51606B"/>
                </a:solidFill>
                <a:latin typeface="Calibri" pitchFamily="34" charset="0"/>
                <a:ea typeface="Calibri" pitchFamily="34" charset="-122"/>
                <a:cs typeface="Calibri" pitchFamily="34" charset="-120"/>
              </a:rPr>
              <a:t>Develop AI-powered healthcare recommendations.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097280" y="-1097280"/>
            <a:ext cx="3657600" cy="3657600"/>
          </a:xfrm>
          <a:prstGeom prst="ellipse">
            <a:avLst/>
          </a:prstGeom>
          <a:solidFill>
            <a:srgbClr val="028090">
              <a:alpha val="20000"/>
            </a:srgbClr>
          </a:solidFill>
          <a:ln/>
        </p:spPr>
      </p:sp>
      <p:sp>
        <p:nvSpPr>
          <p:cNvPr id="3" name="Text 1"/>
          <p:cNvSpPr/>
          <p:nvPr/>
        </p:nvSpPr>
        <p:spPr>
          <a:xfrm>
            <a:off x="822960" y="91440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Text 2"/>
          <p:cNvSpPr/>
          <p:nvPr/>
        </p:nvSpPr>
        <p:spPr>
          <a:xfrm>
            <a:off x="822960" y="1691640"/>
            <a:ext cx="7680960" cy="2194560"/>
          </a:xfrm>
          <a:prstGeom prst="rect">
            <a:avLst/>
          </a:prstGeom>
          <a:noFill/>
          <a:ln/>
        </p:spPr>
        <p:txBody>
          <a:bodyPr wrap="square" lIns="0" tIns="0" rIns="0" bIns="0" rtlCol="0" anchor="t"/>
          <a:lstStyle/>
          <a:p>
            <a:pPr indent="0" marL="0">
              <a:lnSpc>
                <a:spcPct val="135000"/>
              </a:lnSpc>
              <a:buNone/>
            </a:pPr>
            <a:r>
              <a:rPr lang="en-US" sz="1550" dirty="0">
                <a:solidFill>
                  <a:srgbClr val="D7E4E8"/>
                </a:solidFill>
                <a:latin typeface="Calibri" pitchFamily="34" charset="0"/>
                <a:ea typeface="Calibri" pitchFamily="34" charset="-122"/>
                <a:cs typeface="Calibri" pitchFamily="34" charset="-120"/>
              </a:rPr>
              <a:t>The Healthcare Analytics Dashboard demonstrates how Power BI can convert healthcare data into actionable insights. Interactive visualizations enable users to understand patient demographics, billing trends, and healthcare performance efficiently — highlighting the role of Business Intelligence in improving healthcare decision-making.</a:t>
            </a:r>
            <a:endParaRPr lang="en-US" sz="1550" dirty="0"/>
          </a:p>
        </p:txBody>
      </p:sp>
      <p:sp>
        <p:nvSpPr>
          <p:cNvPr id="5" name="Text 3"/>
          <p:cNvSpPr/>
          <p:nvPr/>
        </p:nvSpPr>
        <p:spPr>
          <a:xfrm>
            <a:off x="822960" y="4023360"/>
            <a:ext cx="5486400" cy="32004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SKILLS DEMONSTRATED</a:t>
            </a:r>
            <a:endParaRPr lang="en-US" sz="1200" dirty="0"/>
          </a:p>
        </p:txBody>
      </p:sp>
      <p:sp>
        <p:nvSpPr>
          <p:cNvPr id="6" name="Shape 4"/>
          <p:cNvSpPr/>
          <p:nvPr/>
        </p:nvSpPr>
        <p:spPr>
          <a:xfrm>
            <a:off x="822960" y="4434840"/>
            <a:ext cx="1673352" cy="384048"/>
          </a:xfrm>
          <a:prstGeom prst="roundRect">
            <a:avLst>
              <a:gd name="adj" fmla="val 50000"/>
            </a:avLst>
          </a:prstGeom>
          <a:solidFill>
            <a:srgbClr val="12365A"/>
          </a:solidFill>
          <a:ln w="12700">
            <a:solidFill>
              <a:srgbClr val="028090"/>
            </a:solidFill>
            <a:prstDash val="solid"/>
          </a:ln>
        </p:spPr>
      </p:sp>
      <p:sp>
        <p:nvSpPr>
          <p:cNvPr id="7" name="Text 5"/>
          <p:cNvSpPr/>
          <p:nvPr/>
        </p:nvSpPr>
        <p:spPr>
          <a:xfrm>
            <a:off x="822960" y="4434840"/>
            <a:ext cx="1673352"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Data Analytics</a:t>
            </a:r>
            <a:endParaRPr lang="en-US" sz="1050" dirty="0"/>
          </a:p>
        </p:txBody>
      </p:sp>
      <p:sp>
        <p:nvSpPr>
          <p:cNvPr id="8" name="Shape 6"/>
          <p:cNvSpPr/>
          <p:nvPr/>
        </p:nvSpPr>
        <p:spPr>
          <a:xfrm>
            <a:off x="2660904" y="4434840"/>
            <a:ext cx="1586484" cy="384048"/>
          </a:xfrm>
          <a:prstGeom prst="roundRect">
            <a:avLst>
              <a:gd name="adj" fmla="val 50000"/>
            </a:avLst>
          </a:prstGeom>
          <a:solidFill>
            <a:srgbClr val="12365A"/>
          </a:solidFill>
          <a:ln w="12700">
            <a:solidFill>
              <a:srgbClr val="028090"/>
            </a:solidFill>
            <a:prstDash val="solid"/>
          </a:ln>
        </p:spPr>
      </p:sp>
      <p:sp>
        <p:nvSpPr>
          <p:cNvPr id="9" name="Text 7"/>
          <p:cNvSpPr/>
          <p:nvPr/>
        </p:nvSpPr>
        <p:spPr>
          <a:xfrm>
            <a:off x="2660904" y="4434840"/>
            <a:ext cx="1586484"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Data Cleaning</a:t>
            </a:r>
            <a:endParaRPr lang="en-US" sz="1050" dirty="0"/>
          </a:p>
        </p:txBody>
      </p:sp>
      <p:sp>
        <p:nvSpPr>
          <p:cNvPr id="10" name="Shape 8"/>
          <p:cNvSpPr/>
          <p:nvPr/>
        </p:nvSpPr>
        <p:spPr>
          <a:xfrm>
            <a:off x="4411980" y="4434840"/>
            <a:ext cx="2020824" cy="384048"/>
          </a:xfrm>
          <a:prstGeom prst="roundRect">
            <a:avLst>
              <a:gd name="adj" fmla="val 50000"/>
            </a:avLst>
          </a:prstGeom>
          <a:solidFill>
            <a:srgbClr val="12365A"/>
          </a:solidFill>
          <a:ln w="12700">
            <a:solidFill>
              <a:srgbClr val="028090"/>
            </a:solidFill>
            <a:prstDash val="solid"/>
          </a:ln>
        </p:spPr>
      </p:sp>
      <p:sp>
        <p:nvSpPr>
          <p:cNvPr id="11" name="Text 9"/>
          <p:cNvSpPr/>
          <p:nvPr/>
        </p:nvSpPr>
        <p:spPr>
          <a:xfrm>
            <a:off x="4411980" y="4434840"/>
            <a:ext cx="2020824"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Data Visualization</a:t>
            </a:r>
            <a:endParaRPr lang="en-US" sz="1050" dirty="0"/>
          </a:p>
        </p:txBody>
      </p:sp>
      <p:sp>
        <p:nvSpPr>
          <p:cNvPr id="12" name="Shape 10"/>
          <p:cNvSpPr/>
          <p:nvPr/>
        </p:nvSpPr>
        <p:spPr>
          <a:xfrm>
            <a:off x="6597396" y="4434840"/>
            <a:ext cx="1152144" cy="384048"/>
          </a:xfrm>
          <a:prstGeom prst="roundRect">
            <a:avLst>
              <a:gd name="adj" fmla="val 50000"/>
            </a:avLst>
          </a:prstGeom>
          <a:solidFill>
            <a:srgbClr val="12365A"/>
          </a:solidFill>
          <a:ln w="12700">
            <a:solidFill>
              <a:srgbClr val="028090"/>
            </a:solidFill>
            <a:prstDash val="solid"/>
          </a:ln>
        </p:spPr>
      </p:sp>
      <p:sp>
        <p:nvSpPr>
          <p:cNvPr id="13" name="Text 11"/>
          <p:cNvSpPr/>
          <p:nvPr/>
        </p:nvSpPr>
        <p:spPr>
          <a:xfrm>
            <a:off x="6597396" y="4434840"/>
            <a:ext cx="1152144"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Power BI</a:t>
            </a:r>
            <a:endParaRPr lang="en-US" sz="1050" dirty="0"/>
          </a:p>
        </p:txBody>
      </p:sp>
      <p:sp>
        <p:nvSpPr>
          <p:cNvPr id="14" name="Shape 12"/>
          <p:cNvSpPr/>
          <p:nvPr/>
        </p:nvSpPr>
        <p:spPr>
          <a:xfrm>
            <a:off x="822960" y="4892040"/>
            <a:ext cx="1412748" cy="384048"/>
          </a:xfrm>
          <a:prstGeom prst="roundRect">
            <a:avLst>
              <a:gd name="adj" fmla="val 50000"/>
            </a:avLst>
          </a:prstGeom>
          <a:solidFill>
            <a:srgbClr val="12365A"/>
          </a:solidFill>
          <a:ln w="12700">
            <a:solidFill>
              <a:srgbClr val="028090"/>
            </a:solidFill>
            <a:prstDash val="solid"/>
          </a:ln>
        </p:spPr>
      </p:sp>
      <p:sp>
        <p:nvSpPr>
          <p:cNvPr id="15" name="Text 13"/>
          <p:cNvSpPr/>
          <p:nvPr/>
        </p:nvSpPr>
        <p:spPr>
          <a:xfrm>
            <a:off x="822960" y="4892040"/>
            <a:ext cx="1412748"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Power Query</a:t>
            </a:r>
            <a:endParaRPr lang="en-US" sz="1050" dirty="0"/>
          </a:p>
        </p:txBody>
      </p:sp>
      <p:sp>
        <p:nvSpPr>
          <p:cNvPr id="16" name="Shape 14"/>
          <p:cNvSpPr/>
          <p:nvPr/>
        </p:nvSpPr>
        <p:spPr>
          <a:xfrm>
            <a:off x="2400300" y="4892040"/>
            <a:ext cx="717804" cy="384048"/>
          </a:xfrm>
          <a:prstGeom prst="roundRect">
            <a:avLst>
              <a:gd name="adj" fmla="val 50000"/>
            </a:avLst>
          </a:prstGeom>
          <a:solidFill>
            <a:srgbClr val="12365A"/>
          </a:solidFill>
          <a:ln w="12700">
            <a:solidFill>
              <a:srgbClr val="028090"/>
            </a:solidFill>
            <a:prstDash val="solid"/>
          </a:ln>
        </p:spPr>
      </p:sp>
      <p:sp>
        <p:nvSpPr>
          <p:cNvPr id="17" name="Text 15"/>
          <p:cNvSpPr/>
          <p:nvPr/>
        </p:nvSpPr>
        <p:spPr>
          <a:xfrm>
            <a:off x="2400300" y="4892040"/>
            <a:ext cx="717804"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DAX</a:t>
            </a:r>
            <a:endParaRPr lang="en-US" sz="1050" dirty="0"/>
          </a:p>
        </p:txBody>
      </p:sp>
      <p:sp>
        <p:nvSpPr>
          <p:cNvPr id="18" name="Shape 16"/>
          <p:cNvSpPr/>
          <p:nvPr/>
        </p:nvSpPr>
        <p:spPr>
          <a:xfrm>
            <a:off x="3282696" y="4892040"/>
            <a:ext cx="2281428" cy="384048"/>
          </a:xfrm>
          <a:prstGeom prst="roundRect">
            <a:avLst>
              <a:gd name="adj" fmla="val 50000"/>
            </a:avLst>
          </a:prstGeom>
          <a:solidFill>
            <a:srgbClr val="12365A"/>
          </a:solidFill>
          <a:ln w="12700">
            <a:solidFill>
              <a:srgbClr val="028090"/>
            </a:solidFill>
            <a:prstDash val="solid"/>
          </a:ln>
        </p:spPr>
      </p:sp>
      <p:sp>
        <p:nvSpPr>
          <p:cNvPr id="19" name="Text 17"/>
          <p:cNvSpPr/>
          <p:nvPr/>
        </p:nvSpPr>
        <p:spPr>
          <a:xfrm>
            <a:off x="3282696" y="4892040"/>
            <a:ext cx="2281428"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Dashboard Development</a:t>
            </a:r>
            <a:endParaRPr lang="en-US" sz="1050" dirty="0"/>
          </a:p>
        </p:txBody>
      </p:sp>
      <p:sp>
        <p:nvSpPr>
          <p:cNvPr id="20" name="Shape 18"/>
          <p:cNvSpPr/>
          <p:nvPr/>
        </p:nvSpPr>
        <p:spPr>
          <a:xfrm>
            <a:off x="5728716" y="4892040"/>
            <a:ext cx="2281428" cy="384048"/>
          </a:xfrm>
          <a:prstGeom prst="roundRect">
            <a:avLst>
              <a:gd name="adj" fmla="val 50000"/>
            </a:avLst>
          </a:prstGeom>
          <a:solidFill>
            <a:srgbClr val="12365A"/>
          </a:solidFill>
          <a:ln w="12700">
            <a:solidFill>
              <a:srgbClr val="028090"/>
            </a:solidFill>
            <a:prstDash val="solid"/>
          </a:ln>
        </p:spPr>
      </p:sp>
      <p:sp>
        <p:nvSpPr>
          <p:cNvPr id="21" name="Text 19"/>
          <p:cNvSpPr/>
          <p:nvPr/>
        </p:nvSpPr>
        <p:spPr>
          <a:xfrm>
            <a:off x="5728716" y="4892040"/>
            <a:ext cx="2281428"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Business Intelligence</a:t>
            </a:r>
            <a:endParaRPr lang="en-US" sz="1050" dirty="0"/>
          </a:p>
        </p:txBody>
      </p:sp>
      <p:sp>
        <p:nvSpPr>
          <p:cNvPr id="22" name="Shape 20"/>
          <p:cNvSpPr/>
          <p:nvPr/>
        </p:nvSpPr>
        <p:spPr>
          <a:xfrm>
            <a:off x="822960" y="5349240"/>
            <a:ext cx="2194560" cy="384048"/>
          </a:xfrm>
          <a:prstGeom prst="roundRect">
            <a:avLst>
              <a:gd name="adj" fmla="val 50000"/>
            </a:avLst>
          </a:prstGeom>
          <a:solidFill>
            <a:srgbClr val="12365A"/>
          </a:solidFill>
          <a:ln w="12700">
            <a:solidFill>
              <a:srgbClr val="028090"/>
            </a:solidFill>
            <a:prstDash val="solid"/>
          </a:ln>
        </p:spPr>
      </p:sp>
      <p:sp>
        <p:nvSpPr>
          <p:cNvPr id="23" name="Text 21"/>
          <p:cNvSpPr/>
          <p:nvPr/>
        </p:nvSpPr>
        <p:spPr>
          <a:xfrm>
            <a:off x="822960" y="5349240"/>
            <a:ext cx="21945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Healthcare Analytics</a:t>
            </a:r>
            <a:endParaRPr lang="en-US" sz="1050" dirty="0"/>
          </a:p>
        </p:txBody>
      </p:sp>
      <p:sp>
        <p:nvSpPr>
          <p:cNvPr id="24" name="Shape 22"/>
          <p:cNvSpPr/>
          <p:nvPr/>
        </p:nvSpPr>
        <p:spPr>
          <a:xfrm>
            <a:off x="8869680" y="1691640"/>
            <a:ext cx="2743200" cy="2926080"/>
          </a:xfrm>
          <a:prstGeom prst="roundRect">
            <a:avLst>
              <a:gd name="adj" fmla="val 3333"/>
            </a:avLst>
          </a:prstGeom>
          <a:solidFill>
            <a:srgbClr val="12365A"/>
          </a:solidFill>
          <a:ln/>
        </p:spPr>
      </p:sp>
      <p:sp>
        <p:nvSpPr>
          <p:cNvPr id="25" name="Shape 23"/>
          <p:cNvSpPr/>
          <p:nvPr/>
        </p:nvSpPr>
        <p:spPr>
          <a:xfrm>
            <a:off x="9189720" y="1965960"/>
            <a:ext cx="640080" cy="640080"/>
          </a:xfrm>
          <a:prstGeom prst="ellipse">
            <a:avLst/>
          </a:prstGeom>
          <a:solidFill>
            <a:srgbClr val="028090"/>
          </a:solidFill>
          <a:ln/>
        </p:spPr>
      </p:sp>
      <p:pic>
        <p:nvPicPr>
          <p:cNvPr id="26" name="Image 0" descr="preencoded.png">    </p:cNvPr>
          <p:cNvPicPr>
            <a:picLocks noChangeAspect="1"/>
          </p:cNvPicPr>
          <p:nvPr/>
        </p:nvPicPr>
        <p:blipFill>
          <a:blip r:embed="rId1"/>
          <a:stretch>
            <a:fillRect/>
          </a:stretch>
        </p:blipFill>
        <p:spPr>
          <a:xfrm>
            <a:off x="9356141" y="2132381"/>
            <a:ext cx="307238" cy="307238"/>
          </a:xfrm>
          <a:prstGeom prst="rect">
            <a:avLst/>
          </a:prstGeom>
        </p:spPr>
      </p:pic>
      <p:sp>
        <p:nvSpPr>
          <p:cNvPr id="27" name="Text 24"/>
          <p:cNvSpPr/>
          <p:nvPr/>
        </p:nvSpPr>
        <p:spPr>
          <a:xfrm>
            <a:off x="9098280" y="2743200"/>
            <a:ext cx="2286000" cy="274320"/>
          </a:xfrm>
          <a:prstGeom prst="rect">
            <a:avLst/>
          </a:prstGeom>
          <a:noFill/>
          <a:ln/>
        </p:spPr>
        <p:txBody>
          <a:bodyPr wrap="square" lIns="0" tIns="0" rIns="0" bIns="0" rtlCol="0" anchor="ctr"/>
          <a:lstStyle/>
          <a:p>
            <a:pPr indent="0" marL="0">
              <a:buNone/>
            </a:pPr>
            <a:r>
              <a:rPr lang="en-US" sz="1100" dirty="0">
                <a:solidFill>
                  <a:srgbClr val="9FB4BE"/>
                </a:solidFill>
                <a:latin typeface="Calibri" pitchFamily="34" charset="0"/>
                <a:ea typeface="Calibri" pitchFamily="34" charset="-122"/>
                <a:cs typeface="Calibri" pitchFamily="34" charset="-120"/>
              </a:rPr>
              <a:t>Prepared By</a:t>
            </a:r>
            <a:endParaRPr lang="en-US" sz="1100" dirty="0"/>
          </a:p>
        </p:txBody>
      </p:sp>
      <p:sp>
        <p:nvSpPr>
          <p:cNvPr id="28" name="Text 25"/>
          <p:cNvSpPr/>
          <p:nvPr/>
        </p:nvSpPr>
        <p:spPr>
          <a:xfrm>
            <a:off x="9098280" y="2999232"/>
            <a:ext cx="237744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Unnati Sonkar</a:t>
            </a:r>
            <a:endParaRPr lang="en-US" sz="1600" dirty="0"/>
          </a:p>
        </p:txBody>
      </p:sp>
      <p:sp>
        <p:nvSpPr>
          <p:cNvPr id="29" name="Shape 26"/>
          <p:cNvSpPr/>
          <p:nvPr/>
        </p:nvSpPr>
        <p:spPr>
          <a:xfrm>
            <a:off x="9098280" y="3474720"/>
            <a:ext cx="2194560" cy="0"/>
          </a:xfrm>
          <a:prstGeom prst="line">
            <a:avLst/>
          </a:prstGeom>
          <a:noFill/>
          <a:ln w="12700">
            <a:solidFill>
              <a:srgbClr val="2E4258"/>
            </a:solidFill>
            <a:prstDash val="solid"/>
          </a:ln>
        </p:spPr>
      </p:sp>
      <p:sp>
        <p:nvSpPr>
          <p:cNvPr id="30" name="Text 27"/>
          <p:cNvSpPr/>
          <p:nvPr/>
        </p:nvSpPr>
        <p:spPr>
          <a:xfrm>
            <a:off x="9098280" y="3611880"/>
            <a:ext cx="2377440" cy="640080"/>
          </a:xfrm>
          <a:prstGeom prst="rect">
            <a:avLst/>
          </a:prstGeom>
          <a:noFill/>
          <a:ln/>
        </p:spPr>
        <p:txBody>
          <a:bodyPr wrap="square" lIns="0" tIns="0" rIns="0" bIns="0" rtlCol="0" anchor="ctr"/>
          <a:lstStyle/>
          <a:p>
            <a:pPr indent="0" marL="0">
              <a:buNone/>
            </a:pPr>
            <a:r>
              <a:rPr lang="en-US" sz="1050" dirty="0">
                <a:solidFill>
                  <a:srgbClr val="C7D8DD"/>
                </a:solidFill>
                <a:latin typeface="Calibri" pitchFamily="34" charset="0"/>
                <a:ea typeface="Calibri" pitchFamily="34" charset="-122"/>
                <a:cs typeface="Calibri" pitchFamily="34" charset="-120"/>
              </a:rPr>
              <a:t>M.Sc. Computational</a:t>
            </a:r>
            <a:endParaRPr lang="en-US" sz="1050" dirty="0"/>
          </a:p>
          <a:p>
            <a:pPr indent="0" marL="0">
              <a:buNone/>
            </a:pPr>
            <a:r>
              <a:rPr lang="en-US" sz="1050" dirty="0">
                <a:solidFill>
                  <a:srgbClr val="C7D8DD"/>
                </a:solidFill>
                <a:latin typeface="Calibri" pitchFamily="34" charset="0"/>
                <a:ea typeface="Calibri" pitchFamily="34" charset="-122"/>
                <a:cs typeface="Calibri" pitchFamily="34" charset="-120"/>
              </a:rPr>
              <a:t>Science and Applications</a:t>
            </a:r>
            <a:endParaRPr lang="en-US" sz="1050" dirty="0"/>
          </a:p>
        </p:txBody>
      </p:sp>
      <p:sp>
        <p:nvSpPr>
          <p:cNvPr id="31" name="Text 28"/>
          <p:cNvSpPr/>
          <p:nvPr/>
        </p:nvSpPr>
        <p:spPr>
          <a:xfrm>
            <a:off x="9098280" y="4251960"/>
            <a:ext cx="2377440" cy="320040"/>
          </a:xfrm>
          <a:prstGeom prst="rect">
            <a:avLst/>
          </a:prstGeom>
          <a:noFill/>
          <a:ln/>
        </p:spPr>
        <p:txBody>
          <a:bodyPr wrap="square" lIns="0" tIns="0" rIns="0" bIns="0"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Tool: Microsoft Power BI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Analytics Dashboard</dc:title>
  <dc:subject>PptxGenJS Presentation</dc:subject>
  <dc:creator>Unnati Sonkar</dc:creator>
  <cp:lastModifiedBy>Unnati Sonkar</cp:lastModifiedBy>
  <cp:revision>1</cp:revision>
  <dcterms:created xsi:type="dcterms:W3CDTF">2026-07-02T05:46:00Z</dcterms:created>
  <dcterms:modified xsi:type="dcterms:W3CDTF">2026-07-02T05:46:00Z</dcterms:modified>
</cp:coreProperties>
</file>